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Money error (₹)</c:v>
                </c:pt>
              </c:strCache>
            </c:strRef>
          </c:tx>
          <c:spPr>
            <a:solidFill>
              <a:srgbClr val="E8A33D"/>
            </a:solidFill>
            <a:effectLst/>
          </c:spPr>
          <c:invertIfNegative val="0"/>
          <c:dLbls>
            <c:numFmt formatCode="₹#,##0" sourceLinked="0"/>
            <c:txPr>
              <a:bodyPr/>
              <a:lstStyle/>
              <a:p>
                <a:pPr>
                  <a:defRPr b="1" i="0" strike="noStrike" sz="2000" u="none">
                    <a:solidFill>
                      <a:srgbClr val="FFFFF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“Ramesh ka 250…” (filler word)</c:v>
                  </c:pt>
                  <c:pt idx="1">
                    <c:v>“Ramesh ko 200…” (amount)</c:v>
                  </c:pt>
                  <c:pt idx="2">
                    <c:v>“Suresh ko 250…” (customer)</c:v>
                  </c:pt>
                </c:lvl>
              </c:multiLvlStrCache>
            </c:multiLvlStrRef>
          </c:cat>
          <c:val>
            <c:numRef>
              <c:f>Sheet1!$B$2:$B$4</c:f>
              <c:numCache>
                <c:formatCode>General</c:formatCode>
                <c:ptCount val="3"/>
                <c:pt idx="0">
                  <c:v>0</c:v>
                </c:pt>
                <c:pt idx="1">
                  <c:v>50</c:v>
                </c:pt>
                <c:pt idx="2">
                  <c:v>500</c:v>
                </c:pt>
              </c:numCache>
            </c:numRef>
          </c:val>
        </c:ser>
        <c:dLbls>
          <c:numFmt formatCode="₹#,##0" sourceLinked="0"/>
          <c:txPr>
            <a:bodyPr/>
            <a:lstStyle/>
            <a:p>
              <a:pPr>
                <a:defRPr b="1" i="0" strike="noStrike" sz="2000" u="none">
                  <a:solidFill>
                    <a:srgbClr val="FFFFFF"/>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FFFFFF"/>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topic is offline voice-based khata entry for kirana stores. In one line: can a cheap Android phone let a shopkeeper record a credit entry just by speaking, without internet, and still get the money right? We built an offline-first shop app called SmartOps, so this study sits on top of something we already have. I'll go through the problem, what others have done, what's missing, and how we plan to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First, why this problem matters and what exactly the problem is. Then the literature, and the gap we found. Then our research question, objectives and how we'll run the experiment. The main new idea, the Rupee Error Rate, gets its own slide. We'll finish with what we expect to find, what's new, our plan and the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kirana shops still run credit on a paper khata. Digital tools clearly help: one study of 403 Indian retailers found a 9.6 percent revenue gain. But typing an entry while a queue is waiting is slow, and harder for people who aren't comfortable typing. Earlier studies in India showed that low-literacy users prefer voice, and models like Whisper now understand Hindi and Marathi. So voice looks like the obvious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actual problem. Three things get in the way. First, the good speech systems run in the cloud, and shops lose signal all the time. Second, people mix languages; someone will say 'Ramesh ka 250 ka udhaar add karo' in one breath. Third, and this is the big one, money has to be exact. If 'dhai sau' is heard as 'do sau', the customer's account is 50 rupees off. Nobody has checked whether an offline model on a cheap phone can handle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six of the sixteen papers in our report, in time order. In 2007, Medhi and colleagues showed low-literacy users prefer voice, but they used recorded voice, not recognition. SLURP in 2020 said: judge a spoken command by its details, like the date or name, not just words. But it's English and has no money. Whisper and IndicWhisper made Indian speech recognition possible, and in 2025–26 people adapted Whisper to Hindi–English mixing and shrank it to 8 bits. Look at the last column: each one leaves something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read the literature in order, each period fixes something the last one couldn't. Early work showed voice suits users, then people tackled mixed Indian speech, then big models came, and now Whisper is being shrunk and tuned for Indian languages. What's still missing is three things. Nobody tested short khata commands in mixed Hindi, Marathi and English. Nobody tested this offline on a cheap phone. And nobody measured errors in money: word error rate treats a wrong filler word and a wrong amount exactly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one research question: can an offline model on a cheap phone record mixed-language khata entries with few rupee errors, and faster than typing? We break it into four objectives. One, record about 360 commands from 12 people where we already know the right answer. Two, build the offline feature and compare it with a cloud service, with and without giving the model the shop's customer names. Three, measure errors in rupees and see how badly word error rate misjudges them. Four, a small test where 10 people try voice versus 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feature works. The shopkeeper presses a button and speaks. Whisper turns that into text on the phone itself, with no internet. Simple rules then pick out the amount and the type; 'saade teen hazaar' becomes 3,500 and 'jama' means repayment. We match the name against the shop's customer list, and the shopkeeper sees a confirm screen before anything is saved, so nothing goes into the khata blindly.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framework in one picture. On the left is what we change: the speech setup, which is cloud, offline Whisper, or offline Whisper with the customer-name hint, and in the usability test, voice versus typing. On the right is what we measure: whether the whole entry is right, the Rupee Error Rate, time on the phone, and for users, time per entry and the SUS score. The arrows are our four hypotheses. Language and background noise might change the results, so we note them for every clip.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has three parts. First, 12 people each record 30 short commands, so about 360 clips; since we wrote the cards, we already know the right answer for each. Second, every clip goes through all three setups, so any difference comes from the setup, not the speech. Third, 10 people do five entries by voice and five by typing, and we time them. And if someone asks whether this is enough: because it's paired, 360 clips gives 80 percent power to catch a 5 to 6 point gap, and 10 people is enough to catch a big speed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we're proudest of. Word error rate counts every wrong word the same. Take 'Ramesh ko 250 udhaar': three outputs, each with one wrong word, so all three have 25 percent word error. But the first one costs nothing, the second costs 50 rupees, and the third puts 500 rupees on the wrong customer. So we measure the Rupee Error Rate: how many rupees end up in the wrong place per 100 entries. A wrong customer counts twice, because one person is missing the entry and another wrongly has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four hypotheses, and each has a simple test and a clear way to prove us wrong. We expect cloud to beat offline, but hopefully by a small gap, which would make offline practical. We expect the customer-name hint to help with names, and word error rate to be a poor guide to money errors. And we expect voice to be faster than typing. We think most mistakes will be in names and number words like 'dhai' and 'saade'. These are expectations, not results; we haven't run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new? Three things. The Rupee Error Rate, which as far as we found nobody has used for speech. A proper test of offline, mixed-language khata commands on a cheap phone. And using the shop's own customer list as a hint so the model hears names correctly. On IP, we think the rupee measure and the name hint might have potential, but we'll talk to the IP cell before publishing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runs for 12 weeks. Recording is done by week 5, the accuracy results by week 8, and the usability test by week 9, which leaves the last three weeks for analysis and writing. The whole budget is about 11,000 rupees. Most of that is one cheap Android phone at 6,000; the rest is small thank-you payments to shopkeepers, cloud usage, printing and travel. All the software we use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papers cited on the slides, numbered the same as in our report. The report has 21 references in total, all in IEEE style, and we checked each one against its publisher's page. The two I'd point to are Whisper, which our offline setup is built on, and Wang and colleagues from 2003, who first showed that a lower word error rate doesn't always mean better understanding, which is the idea behind our Rupee Error Rate. If anyone wants the full list, it is at the end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our proposal. To sum it up in one line: offline voice entry for khata, judged by the rupees it gets wrong, not just the words. It builds on SmartOps, which already works offline, so the feature fits into a real app. The whole study costs about 11,000 rupees and runs in 12 weeks. Thank you, and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D"/>
        </a:solidFill>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22345C">
              <a:alpha val="70000"/>
            </a:srgbClr>
          </a:solidFill>
          <a:ln w="12700">
            <a:solidFill>
              <a:srgbClr val="22345C">
                <a:alpha val="0"/>
              </a:srgbClr>
            </a:solidFill>
            <a:prstDash val="solid"/>
          </a:ln>
        </p:spPr>
      </p:sp>
      <p:sp>
        <p:nvSpPr>
          <p:cNvPr id="3" name="Shape 1"/>
          <p:cNvSpPr/>
          <p:nvPr/>
        </p:nvSpPr>
        <p:spPr>
          <a:xfrm>
            <a:off x="10972800" y="5120640"/>
            <a:ext cx="2194560" cy="2194560"/>
          </a:xfrm>
          <a:prstGeom prst="ellipse">
            <a:avLst/>
          </a:prstGeom>
          <a:solidFill>
            <a:srgbClr val="E8A33D">
              <a:alpha val="55000"/>
            </a:srgbClr>
          </a:solidFill>
          <a:ln w="12700">
            <a:solidFill>
              <a:srgbClr val="E8A33D">
                <a:alpha val="0"/>
              </a:srgbClr>
            </a:solidFill>
            <a:prstDash val="solid"/>
          </a:ln>
        </p:spPr>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C9D3E6"/>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C9D3E6"/>
                </a:solidFill>
                <a:latin typeface="Calibri" pitchFamily="34" charset="0"/>
                <a:ea typeface="Calibri" pitchFamily="34" charset="-122"/>
                <a:cs typeface="Calibri" pitchFamily="34" charset="-120"/>
              </a:rPr>
              <a:t>1 / 16</a:t>
            </a:r>
            <a:endParaRPr lang="en-US" sz="1200" dirty="0"/>
          </a:p>
        </p:txBody>
      </p:sp>
      <p:sp>
        <p:nvSpPr>
          <p:cNvPr id="6" name="Text 4"/>
          <p:cNvSpPr txBox="1"/>
          <p:nvPr/>
        </p:nvSpPr>
        <p:spPr>
          <a:xfrm>
            <a:off x="548640" y="1005840"/>
            <a:ext cx="9144000" cy="365760"/>
          </a:xfrm>
          <a:prstGeom prst="rect">
            <a:avLst/>
          </a:prstGeom>
          <a:noFill/>
          <a:ln/>
        </p:spPr>
        <p:txBody>
          <a:bodyPr wrap="square" lIns="0" tIns="0" rIns="0" bIns="0" rtlCol="0" anchor="t"/>
          <a:lstStyle/>
          <a:p>
            <a:pPr indent="0" marL="0">
              <a:buNone/>
            </a:pPr>
            <a:r>
              <a:rPr lang="en-US" sz="1400" b="1" spc="200" kern="0" dirty="0">
                <a:solidFill>
                  <a:srgbClr val="E8A33D"/>
                </a:solidFill>
                <a:latin typeface="Calibri" pitchFamily="34" charset="0"/>
                <a:ea typeface="Calibri" pitchFamily="34" charset="-122"/>
                <a:cs typeface="Calibri" pitchFamily="34" charset="-120"/>
              </a:rPr>
              <a:t>RESEARCH TOPIC PRESENTATION · RESEARCH METHODOLOGY</a:t>
            </a:r>
            <a:endParaRPr lang="en-US" sz="1400" dirty="0"/>
          </a:p>
        </p:txBody>
      </p:sp>
      <p:sp>
        <p:nvSpPr>
          <p:cNvPr id="7" name="Text 5"/>
          <p:cNvSpPr txBox="1"/>
          <p:nvPr/>
        </p:nvSpPr>
        <p:spPr>
          <a:xfrm>
            <a:off x="548640" y="1463040"/>
            <a:ext cx="8595360" cy="1828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Offline Voice-Based Khata Entry in Hindi, Marathi and English for Kirana Stores</a:t>
            </a:r>
            <a:endParaRPr lang="en-US" sz="4000" dirty="0"/>
          </a:p>
        </p:txBody>
      </p:sp>
      <p:sp>
        <p:nvSpPr>
          <p:cNvPr id="8" name="Text 6"/>
          <p:cNvSpPr txBox="1"/>
          <p:nvPr/>
        </p:nvSpPr>
        <p:spPr>
          <a:xfrm>
            <a:off x="548640" y="3383280"/>
            <a:ext cx="8412480" cy="822960"/>
          </a:xfrm>
          <a:prstGeom prst="rect">
            <a:avLst/>
          </a:prstGeom>
          <a:noFill/>
          <a:ln/>
        </p:spPr>
        <p:txBody>
          <a:bodyPr wrap="square" lIns="0" tIns="0" rIns="0" bIns="0" rtlCol="0" anchor="t"/>
          <a:lstStyle/>
          <a:p>
            <a:pPr indent="0" marL="0">
              <a:buNone/>
            </a:pPr>
            <a:r>
              <a:rPr lang="en-US" sz="2200" i="1" dirty="0">
                <a:solidFill>
                  <a:srgbClr val="C9D3E6"/>
                </a:solidFill>
                <a:latin typeface="Calibri" pitchFamily="34" charset="0"/>
                <a:ea typeface="Calibri" pitchFamily="34" charset="-122"/>
                <a:cs typeface="Calibri" pitchFamily="34" charset="-120"/>
              </a:rPr>
              <a:t>Can a cheap phone record credit entries by voice, with no internet, and get the money right?</a:t>
            </a:r>
            <a:endParaRPr lang="en-US" sz="2200" dirty="0"/>
          </a:p>
        </p:txBody>
      </p:sp>
      <p:sp>
        <p:nvSpPr>
          <p:cNvPr id="9" name="Shape 7"/>
          <p:cNvSpPr/>
          <p:nvPr/>
        </p:nvSpPr>
        <p:spPr>
          <a:xfrm>
            <a:off x="9418320" y="1828800"/>
            <a:ext cx="2011680" cy="2011680"/>
          </a:xfrm>
          <a:prstGeom prst="ellipse">
            <a:avLst/>
          </a:prstGeom>
          <a:solidFill>
            <a:srgbClr val="E8A33D"/>
          </a:solidFill>
          <a:ln w="12700">
            <a:solidFill>
              <a:srgbClr val="E8A33D"/>
            </a:solidFill>
            <a:prstDash val="solid"/>
          </a:ln>
        </p:spPr>
      </p:sp>
      <p:sp>
        <p:nvSpPr>
          <p:cNvPr id="10" name="Text 8"/>
          <p:cNvSpPr txBox="1"/>
          <p:nvPr/>
        </p:nvSpPr>
        <p:spPr>
          <a:xfrm>
            <a:off x="9418320" y="1828800"/>
            <a:ext cx="2011680" cy="2011680"/>
          </a:xfrm>
          <a:prstGeom prst="rect">
            <a:avLst/>
          </a:prstGeom>
          <a:noFill/>
          <a:ln/>
        </p:spPr>
        <p:txBody>
          <a:bodyPr wrap="square" lIns="0" tIns="0" rIns="0" bIns="0" rtlCol="0" anchor="ctr"/>
          <a:lstStyle/>
          <a:p>
            <a:pPr algn="ctr" indent="0" marL="0">
              <a:buNone/>
            </a:pPr>
            <a:r>
              <a:rPr lang="en-US" sz="8800" b="1" dirty="0">
                <a:solidFill>
                  <a:srgbClr val="15223D"/>
                </a:solidFill>
                <a:latin typeface="Calibri" pitchFamily="34" charset="0"/>
                <a:ea typeface="Calibri" pitchFamily="34" charset="-122"/>
                <a:cs typeface="Calibri" pitchFamily="34" charset="-120"/>
              </a:rPr>
              <a:t>₹</a:t>
            </a:r>
            <a:endParaRPr lang="en-US" sz="8800" dirty="0"/>
          </a:p>
        </p:txBody>
      </p:sp>
      <p:sp>
        <p:nvSpPr>
          <p:cNvPr id="11" name="Shape 9"/>
          <p:cNvSpPr/>
          <p:nvPr/>
        </p:nvSpPr>
        <p:spPr>
          <a:xfrm>
            <a:off x="548640" y="4343400"/>
            <a:ext cx="6949440" cy="1737360"/>
          </a:xfrm>
          <a:prstGeom prst="roundRect">
            <a:avLst>
              <a:gd name="adj" fmla="val 6316"/>
            </a:avLst>
          </a:prstGeom>
          <a:solidFill>
            <a:srgbClr val="22345C"/>
          </a:solidFill>
          <a:ln w="12700">
            <a:solidFill>
              <a:srgbClr val="22345C"/>
            </a:solidFill>
            <a:prstDash val="solid"/>
          </a:ln>
        </p:spPr>
      </p:sp>
      <p:sp>
        <p:nvSpPr>
          <p:cNvPr id="12" name="Text 10"/>
          <p:cNvSpPr txBox="1"/>
          <p:nvPr/>
        </p:nvSpPr>
        <p:spPr>
          <a:xfrm>
            <a:off x="822960" y="4526280"/>
            <a:ext cx="6492240" cy="1463040"/>
          </a:xfrm>
          <a:prstGeom prst="rect">
            <a:avLst/>
          </a:prstGeom>
          <a:noFill/>
          <a:ln/>
        </p:spPr>
        <p:txBody>
          <a:bodyPr wrap="square" lIns="0" tIns="0" rIns="0" bIns="0" rtlCol="0" anchor="t"/>
          <a:lstStyle/>
          <a:p>
            <a:pPr indent="0" marL="0">
              <a:spcAft>
                <a:spcPts val="800"/>
              </a:spcAft>
              <a:buNone/>
            </a:pPr>
            <a:r>
              <a:rPr lang="en-US" sz="2000" b="1" dirty="0">
                <a:solidFill>
                  <a:srgbClr val="E8A33D"/>
                </a:solidFill>
                <a:latin typeface="Calibri" pitchFamily="34" charset="0"/>
                <a:ea typeface="Calibri" pitchFamily="34" charset="-122"/>
                <a:cs typeface="Calibri" pitchFamily="34" charset="-120"/>
              </a:rPr>
              <a:t>Team: </a:t>
            </a:r>
            <a:pPr indent="0" marL="0">
              <a:spcAft>
                <a:spcPts val="800"/>
              </a:spcAft>
              <a:buNone/>
            </a:pPr>
            <a:r>
              <a:rPr lang="en-US" sz="2000" dirty="0">
                <a:solidFill>
                  <a:srgbClr val="FFFFFF"/>
                </a:solidFill>
                <a:latin typeface="Calibri" pitchFamily="34" charset="0"/>
                <a:ea typeface="Calibri" pitchFamily="34" charset="-122"/>
                <a:cs typeface="Calibri" pitchFamily="34" charset="-120"/>
              </a:rPr>
              <a:t>[NAME 1], [NAME 2], [NAME 3], [NAME 4]</a:t>
            </a:r>
            <a:endParaRPr lang="en-US" sz="2000" dirty="0"/>
          </a:p>
          <a:p>
            <a:pPr indent="0" marL="0">
              <a:spcAft>
                <a:spcPts val="800"/>
              </a:spcAft>
              <a:buNone/>
            </a:pPr>
            <a:r>
              <a:rPr lang="en-US" sz="2000" b="1" dirty="0">
                <a:solidFill>
                  <a:srgbClr val="E8A33D"/>
                </a:solidFill>
                <a:latin typeface="Calibri" pitchFamily="34" charset="0"/>
                <a:ea typeface="Calibri" pitchFamily="34" charset="-122"/>
                <a:cs typeface="Calibri" pitchFamily="34" charset="-120"/>
              </a:rPr>
              <a:t>Guide: </a:t>
            </a:r>
            <a:pPr indent="0" marL="0">
              <a:spcAft>
                <a:spcPts val="800"/>
              </a:spcAft>
              <a:buNone/>
            </a:pPr>
            <a:r>
              <a:rPr lang="en-US" sz="2000" dirty="0">
                <a:solidFill>
                  <a:srgbClr val="FFFFFF"/>
                </a:solidFill>
                <a:latin typeface="Calibri" pitchFamily="34" charset="0"/>
                <a:ea typeface="Calibri" pitchFamily="34" charset="-122"/>
                <a:cs typeface="Calibri" pitchFamily="34" charset="-120"/>
              </a:rPr>
              <a:t>[GUIDE NAME]</a:t>
            </a:r>
            <a:endParaRPr lang="en-US" sz="2000" dirty="0"/>
          </a:p>
          <a:p>
            <a:pPr indent="0" marL="0">
              <a:spcAft>
                <a:spcPts val="800"/>
              </a:spcAft>
              <a:buNone/>
            </a:pPr>
            <a:r>
              <a:rPr lang="en-US" sz="2000" dirty="0">
                <a:solidFill>
                  <a:srgbClr val="FFFFFF"/>
                </a:solidFill>
                <a:latin typeface="Calibri" pitchFamily="34" charset="0"/>
                <a:ea typeface="Calibri" pitchFamily="34" charset="-122"/>
                <a:cs typeface="Calibri" pitchFamily="34" charset="-120"/>
              </a:rPr>
              <a:t>B.E. Electronics and Computer Science, VESIT · 2026–27</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1F3A68"/>
                </a:solidFill>
                <a:latin typeface="Calibri" pitchFamily="34" charset="0"/>
                <a:ea typeface="Calibri" pitchFamily="34" charset="-122"/>
                <a:cs typeface="Calibri" pitchFamily="34" charset="-120"/>
              </a:rPr>
              <a:t>AGENDA</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What we will cover</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F6368"/>
                </a:solidFill>
                <a:latin typeface="Calibri" pitchFamily="34" charset="0"/>
                <a:ea typeface="Calibri" pitchFamily="34" charset="-122"/>
                <a:cs typeface="Calibri" pitchFamily="34" charset="-120"/>
              </a:rPr>
              <a:t>2 / 16</a:t>
            </a:r>
            <a:endParaRPr lang="en-US" sz="1200" dirty="0"/>
          </a:p>
        </p:txBody>
      </p:sp>
      <p:sp>
        <p:nvSpPr>
          <p:cNvPr id="6" name="Shape 4"/>
          <p:cNvSpPr/>
          <p:nvPr/>
        </p:nvSpPr>
        <p:spPr>
          <a:xfrm>
            <a:off x="548640" y="1691640"/>
            <a:ext cx="548640" cy="548640"/>
          </a:xfrm>
          <a:prstGeom prst="ellipse">
            <a:avLst/>
          </a:prstGeom>
          <a:solidFill>
            <a:srgbClr val="1F3A68"/>
          </a:solidFill>
          <a:ln w="12700">
            <a:solidFill>
              <a:srgbClr val="1F3A68"/>
            </a:solidFill>
            <a:prstDash val="solid"/>
          </a:ln>
        </p:spPr>
      </p:sp>
      <p:sp>
        <p:nvSpPr>
          <p:cNvPr id="7" name="Text 5"/>
          <p:cNvSpPr txBox="1"/>
          <p:nvPr/>
        </p:nvSpPr>
        <p:spPr>
          <a:xfrm>
            <a:off x="548640" y="16916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txBox="1"/>
          <p:nvPr/>
        </p:nvSpPr>
        <p:spPr>
          <a:xfrm>
            <a:off x="1325880" y="1673352"/>
            <a:ext cx="2926080" cy="585216"/>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Introduction</a:t>
            </a:r>
            <a:endParaRPr lang="en-US" sz="2400" dirty="0"/>
          </a:p>
        </p:txBody>
      </p:sp>
      <p:sp>
        <p:nvSpPr>
          <p:cNvPr id="9" name="Text 7"/>
          <p:cNvSpPr txBox="1"/>
          <p:nvPr/>
        </p:nvSpPr>
        <p:spPr>
          <a:xfrm>
            <a:off x="4297680" y="1673352"/>
            <a:ext cx="7315200" cy="585216"/>
          </a:xfrm>
          <a:prstGeom prst="rect">
            <a:avLst/>
          </a:prstGeom>
          <a:noFill/>
          <a:ln/>
        </p:spPr>
        <p:txBody>
          <a:bodyPr wrap="square" lIns="0" tIns="0" rIns="0" bIns="0" rtlCol="0" anchor="ctr"/>
          <a:lstStyle/>
          <a:p>
            <a:pPr indent="0" marL="0">
              <a:buNone/>
            </a:pPr>
            <a:r>
              <a:rPr lang="en-US" sz="2000" dirty="0">
                <a:solidFill>
                  <a:srgbClr val="5F6368"/>
                </a:solidFill>
                <a:latin typeface="Calibri" pitchFamily="34" charset="0"/>
                <a:ea typeface="Calibri" pitchFamily="34" charset="-122"/>
                <a:cs typeface="Calibri" pitchFamily="34" charset="-120"/>
              </a:rPr>
              <a:t>Background and the problem</a:t>
            </a:r>
            <a:endParaRPr lang="en-US" sz="2000" dirty="0"/>
          </a:p>
        </p:txBody>
      </p:sp>
      <p:sp>
        <p:nvSpPr>
          <p:cNvPr id="10" name="Shape 8"/>
          <p:cNvSpPr/>
          <p:nvPr/>
        </p:nvSpPr>
        <p:spPr>
          <a:xfrm>
            <a:off x="548640" y="2560320"/>
            <a:ext cx="548640" cy="548640"/>
          </a:xfrm>
          <a:prstGeom prst="ellipse">
            <a:avLst/>
          </a:prstGeom>
          <a:solidFill>
            <a:srgbClr val="1F3A68"/>
          </a:solidFill>
          <a:ln w="12700">
            <a:solidFill>
              <a:srgbClr val="1F3A68"/>
            </a:solidFill>
            <a:prstDash val="solid"/>
          </a:ln>
        </p:spPr>
      </p:sp>
      <p:sp>
        <p:nvSpPr>
          <p:cNvPr id="11" name="Text 9"/>
          <p:cNvSpPr txBox="1"/>
          <p:nvPr/>
        </p:nvSpPr>
        <p:spPr>
          <a:xfrm>
            <a:off x="548640" y="25603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1325880" y="2542032"/>
            <a:ext cx="2926080" cy="585216"/>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Literature</a:t>
            </a:r>
            <a:endParaRPr lang="en-US" sz="2400" dirty="0"/>
          </a:p>
        </p:txBody>
      </p:sp>
      <p:sp>
        <p:nvSpPr>
          <p:cNvPr id="13" name="Text 11"/>
          <p:cNvSpPr txBox="1"/>
          <p:nvPr/>
        </p:nvSpPr>
        <p:spPr>
          <a:xfrm>
            <a:off x="4297680" y="2542032"/>
            <a:ext cx="7315200" cy="585216"/>
          </a:xfrm>
          <a:prstGeom prst="rect">
            <a:avLst/>
          </a:prstGeom>
          <a:noFill/>
          <a:ln/>
        </p:spPr>
        <p:txBody>
          <a:bodyPr wrap="square" lIns="0" tIns="0" rIns="0" bIns="0" rtlCol="0" anchor="ctr"/>
          <a:lstStyle/>
          <a:p>
            <a:pPr indent="0" marL="0">
              <a:buNone/>
            </a:pPr>
            <a:r>
              <a:rPr lang="en-US" sz="2000" dirty="0">
                <a:solidFill>
                  <a:srgbClr val="5F6368"/>
                </a:solidFill>
                <a:latin typeface="Calibri" pitchFamily="34" charset="0"/>
                <a:ea typeface="Calibri" pitchFamily="34" charset="-122"/>
                <a:cs typeface="Calibri" pitchFamily="34" charset="-120"/>
              </a:rPr>
              <a:t>What others have done, and the gap</a:t>
            </a:r>
            <a:endParaRPr lang="en-US" sz="2000" dirty="0"/>
          </a:p>
        </p:txBody>
      </p:sp>
      <p:sp>
        <p:nvSpPr>
          <p:cNvPr id="14" name="Shape 12"/>
          <p:cNvSpPr/>
          <p:nvPr/>
        </p:nvSpPr>
        <p:spPr>
          <a:xfrm>
            <a:off x="548640" y="3429000"/>
            <a:ext cx="548640" cy="548640"/>
          </a:xfrm>
          <a:prstGeom prst="ellipse">
            <a:avLst/>
          </a:prstGeom>
          <a:solidFill>
            <a:srgbClr val="1F3A68"/>
          </a:solidFill>
          <a:ln w="12700">
            <a:solidFill>
              <a:srgbClr val="1F3A68"/>
            </a:solidFill>
            <a:prstDash val="solid"/>
          </a:ln>
        </p:spPr>
      </p:sp>
      <p:sp>
        <p:nvSpPr>
          <p:cNvPr id="15" name="Text 13"/>
          <p:cNvSpPr txBox="1"/>
          <p:nvPr/>
        </p:nvSpPr>
        <p:spPr>
          <a:xfrm>
            <a:off x="548640" y="34290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1325880" y="3410712"/>
            <a:ext cx="2926080" cy="585216"/>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Our study</a:t>
            </a:r>
            <a:endParaRPr lang="en-US" sz="2400" dirty="0"/>
          </a:p>
        </p:txBody>
      </p:sp>
      <p:sp>
        <p:nvSpPr>
          <p:cNvPr id="17" name="Text 15"/>
          <p:cNvSpPr txBox="1"/>
          <p:nvPr/>
        </p:nvSpPr>
        <p:spPr>
          <a:xfrm>
            <a:off x="4297680" y="3410712"/>
            <a:ext cx="7315200" cy="585216"/>
          </a:xfrm>
          <a:prstGeom prst="rect">
            <a:avLst/>
          </a:prstGeom>
          <a:noFill/>
          <a:ln/>
        </p:spPr>
        <p:txBody>
          <a:bodyPr wrap="square" lIns="0" tIns="0" rIns="0" bIns="0" rtlCol="0" anchor="ctr"/>
          <a:lstStyle/>
          <a:p>
            <a:pPr indent="0" marL="0">
              <a:buNone/>
            </a:pPr>
            <a:r>
              <a:rPr lang="en-US" sz="2000" dirty="0">
                <a:solidFill>
                  <a:srgbClr val="5F6368"/>
                </a:solidFill>
                <a:latin typeface="Calibri" pitchFamily="34" charset="0"/>
                <a:ea typeface="Calibri" pitchFamily="34" charset="-122"/>
                <a:cs typeface="Calibri" pitchFamily="34" charset="-120"/>
              </a:rPr>
              <a:t>Research question, objectives, method</a:t>
            </a:r>
            <a:endParaRPr lang="en-US" sz="2000" dirty="0"/>
          </a:p>
        </p:txBody>
      </p:sp>
      <p:sp>
        <p:nvSpPr>
          <p:cNvPr id="18" name="Shape 16"/>
          <p:cNvSpPr/>
          <p:nvPr/>
        </p:nvSpPr>
        <p:spPr>
          <a:xfrm>
            <a:off x="548640" y="4297680"/>
            <a:ext cx="548640" cy="548640"/>
          </a:xfrm>
          <a:prstGeom prst="ellipse">
            <a:avLst/>
          </a:prstGeom>
          <a:solidFill>
            <a:srgbClr val="1F3A68"/>
          </a:solidFill>
          <a:ln w="12700">
            <a:solidFill>
              <a:srgbClr val="1F3A68"/>
            </a:solidFill>
            <a:prstDash val="solid"/>
          </a:ln>
        </p:spPr>
      </p:sp>
      <p:sp>
        <p:nvSpPr>
          <p:cNvPr id="19" name="Text 17"/>
          <p:cNvSpPr txBox="1"/>
          <p:nvPr/>
        </p:nvSpPr>
        <p:spPr>
          <a:xfrm>
            <a:off x="548640" y="42976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1325880" y="4279392"/>
            <a:ext cx="2926080" cy="585216"/>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Key idea</a:t>
            </a:r>
            <a:endParaRPr lang="en-US" sz="2400" dirty="0"/>
          </a:p>
        </p:txBody>
      </p:sp>
      <p:sp>
        <p:nvSpPr>
          <p:cNvPr id="21" name="Text 19"/>
          <p:cNvSpPr txBox="1"/>
          <p:nvPr/>
        </p:nvSpPr>
        <p:spPr>
          <a:xfrm>
            <a:off x="4297680" y="4279392"/>
            <a:ext cx="7315200" cy="585216"/>
          </a:xfrm>
          <a:prstGeom prst="rect">
            <a:avLst/>
          </a:prstGeom>
          <a:noFill/>
          <a:ln/>
        </p:spPr>
        <p:txBody>
          <a:bodyPr wrap="square" lIns="0" tIns="0" rIns="0" bIns="0" rtlCol="0" anchor="ctr"/>
          <a:lstStyle/>
          <a:p>
            <a:pPr indent="0" marL="0">
              <a:buNone/>
            </a:pPr>
            <a:r>
              <a:rPr lang="en-US" sz="2000" dirty="0">
                <a:solidFill>
                  <a:srgbClr val="5F6368"/>
                </a:solidFill>
                <a:latin typeface="Calibri" pitchFamily="34" charset="0"/>
                <a:ea typeface="Calibri" pitchFamily="34" charset="-122"/>
                <a:cs typeface="Calibri" pitchFamily="34" charset="-120"/>
              </a:rPr>
              <a:t>Rupee Error Rate</a:t>
            </a:r>
            <a:endParaRPr lang="en-US" sz="2000" dirty="0"/>
          </a:p>
        </p:txBody>
      </p:sp>
      <p:sp>
        <p:nvSpPr>
          <p:cNvPr id="22" name="Shape 20"/>
          <p:cNvSpPr/>
          <p:nvPr/>
        </p:nvSpPr>
        <p:spPr>
          <a:xfrm>
            <a:off x="548640" y="5166360"/>
            <a:ext cx="548640" cy="548640"/>
          </a:xfrm>
          <a:prstGeom prst="ellipse">
            <a:avLst/>
          </a:prstGeom>
          <a:solidFill>
            <a:srgbClr val="1F3A68"/>
          </a:solidFill>
          <a:ln w="12700">
            <a:solidFill>
              <a:srgbClr val="1F3A68"/>
            </a:solidFill>
            <a:prstDash val="solid"/>
          </a:ln>
        </p:spPr>
      </p:sp>
      <p:sp>
        <p:nvSpPr>
          <p:cNvPr id="23" name="Text 21"/>
          <p:cNvSpPr txBox="1"/>
          <p:nvPr/>
        </p:nvSpPr>
        <p:spPr>
          <a:xfrm>
            <a:off x="548640" y="51663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4" name="Text 22"/>
          <p:cNvSpPr txBox="1"/>
          <p:nvPr/>
        </p:nvSpPr>
        <p:spPr>
          <a:xfrm>
            <a:off x="1325880" y="5148072"/>
            <a:ext cx="2926080" cy="585216"/>
          </a:xfrm>
          <a:prstGeom prst="rect">
            <a:avLst/>
          </a:prstGeom>
          <a:noFill/>
          <a:ln/>
        </p:spPr>
        <p:txBody>
          <a:bodyPr wrap="square" lIns="0" tIns="0" rIns="0" bIns="0" rtlCol="0" anchor="ctr"/>
          <a:lstStyle/>
          <a:p>
            <a:pPr indent="0" marL="0">
              <a:buNone/>
            </a:pPr>
            <a:r>
              <a:rPr lang="en-US" sz="2400" b="1" dirty="0">
                <a:solidFill>
                  <a:srgbClr val="1A1A1A"/>
                </a:solidFill>
                <a:latin typeface="Calibri" pitchFamily="34" charset="0"/>
                <a:ea typeface="Calibri" pitchFamily="34" charset="-122"/>
                <a:cs typeface="Calibri" pitchFamily="34" charset="-120"/>
              </a:rPr>
              <a:t>Outcomes</a:t>
            </a:r>
            <a:endParaRPr lang="en-US" sz="2400" dirty="0"/>
          </a:p>
        </p:txBody>
      </p:sp>
      <p:sp>
        <p:nvSpPr>
          <p:cNvPr id="25" name="Text 23"/>
          <p:cNvSpPr txBox="1"/>
          <p:nvPr/>
        </p:nvSpPr>
        <p:spPr>
          <a:xfrm>
            <a:off x="4297680" y="5148072"/>
            <a:ext cx="7315200" cy="585216"/>
          </a:xfrm>
          <a:prstGeom prst="rect">
            <a:avLst/>
          </a:prstGeom>
          <a:noFill/>
          <a:ln/>
        </p:spPr>
        <p:txBody>
          <a:bodyPr wrap="square" lIns="0" tIns="0" rIns="0" bIns="0" rtlCol="0" anchor="ctr"/>
          <a:lstStyle/>
          <a:p>
            <a:pPr indent="0" marL="0">
              <a:buNone/>
            </a:pPr>
            <a:r>
              <a:rPr lang="en-US" sz="2000" dirty="0">
                <a:solidFill>
                  <a:srgbClr val="5F6368"/>
                </a:solidFill>
                <a:latin typeface="Calibri" pitchFamily="34" charset="0"/>
                <a:ea typeface="Calibri" pitchFamily="34" charset="-122"/>
                <a:cs typeface="Calibri" pitchFamily="34" charset="-120"/>
              </a:rPr>
              <a:t>Expected results, novelty, plan, references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1F3A68"/>
                </a:solidFill>
                <a:latin typeface="Calibri" pitchFamily="34" charset="0"/>
                <a:ea typeface="Calibri" pitchFamily="34" charset="-122"/>
                <a:cs typeface="Calibri" pitchFamily="34" charset="-120"/>
              </a:rPr>
              <a:t>INTRODUCTION</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Background</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F6368"/>
                </a:solidFill>
                <a:latin typeface="Calibri" pitchFamily="34" charset="0"/>
                <a:ea typeface="Calibri" pitchFamily="34" charset="-122"/>
                <a:cs typeface="Calibri" pitchFamily="34" charset="-120"/>
              </a:rPr>
              <a:t>3 / 16</a:t>
            </a:r>
            <a:endParaRPr lang="en-US" sz="1200" dirty="0"/>
          </a:p>
        </p:txBody>
      </p:sp>
      <p:sp>
        <p:nvSpPr>
          <p:cNvPr id="6" name="Shape 4"/>
          <p:cNvSpPr/>
          <p:nvPr/>
        </p:nvSpPr>
        <p:spPr>
          <a:xfrm>
            <a:off x="548640" y="1691640"/>
            <a:ext cx="3515258" cy="4206240"/>
          </a:xfrm>
          <a:prstGeom prst="roundRect">
            <a:avLst>
              <a:gd name="adj" fmla="val 3121"/>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7" name="Shape 5"/>
          <p:cNvSpPr/>
          <p:nvPr/>
        </p:nvSpPr>
        <p:spPr>
          <a:xfrm>
            <a:off x="822960" y="1920240"/>
            <a:ext cx="502920" cy="502920"/>
          </a:xfrm>
          <a:prstGeom prst="ellipse">
            <a:avLst/>
          </a:prstGeom>
          <a:solidFill>
            <a:srgbClr val="1F3A68"/>
          </a:solidFill>
          <a:ln w="12700">
            <a:solidFill>
              <a:srgbClr val="1F3A68"/>
            </a:solidFill>
            <a:prstDash val="solid"/>
          </a:ln>
        </p:spPr>
      </p:sp>
      <p:sp>
        <p:nvSpPr>
          <p:cNvPr id="8" name="Text 6"/>
          <p:cNvSpPr txBox="1"/>
          <p:nvPr/>
        </p:nvSpPr>
        <p:spPr>
          <a:xfrm>
            <a:off x="822960" y="19202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txBox="1"/>
          <p:nvPr/>
        </p:nvSpPr>
        <p:spPr>
          <a:xfrm>
            <a:off x="822960" y="2651760"/>
            <a:ext cx="2966618" cy="548640"/>
          </a:xfrm>
          <a:prstGeom prst="rect">
            <a:avLst/>
          </a:prstGeom>
          <a:noFill/>
          <a:ln/>
        </p:spPr>
        <p:txBody>
          <a:bodyPr wrap="square" lIns="0" tIns="0" rIns="0" bIns="0" rtlCol="0" anchor="t"/>
          <a:lstStyle/>
          <a:p>
            <a:pPr indent="0" marL="0">
              <a:buNone/>
            </a:pPr>
            <a:r>
              <a:rPr lang="en-US" sz="2400" b="1" dirty="0">
                <a:solidFill>
                  <a:srgbClr val="1A1A1A"/>
                </a:solidFill>
                <a:latin typeface="Calibri" pitchFamily="34" charset="0"/>
                <a:ea typeface="Calibri" pitchFamily="34" charset="-122"/>
                <a:cs typeface="Calibri" pitchFamily="34" charset="-120"/>
              </a:rPr>
              <a:t>Khata is everywhere</a:t>
            </a:r>
            <a:endParaRPr lang="en-US" sz="2400" dirty="0"/>
          </a:p>
        </p:txBody>
      </p:sp>
      <p:sp>
        <p:nvSpPr>
          <p:cNvPr id="10" name="Text 8"/>
          <p:cNvSpPr txBox="1"/>
          <p:nvPr/>
        </p:nvSpPr>
        <p:spPr>
          <a:xfrm>
            <a:off x="822960" y="3291840"/>
            <a:ext cx="2966618" cy="2468880"/>
          </a:xfrm>
          <a:prstGeom prst="rect">
            <a:avLst/>
          </a:prstGeom>
          <a:noFill/>
          <a:ln/>
        </p:spPr>
        <p:txBody>
          <a:bodyPr wrap="square" lIns="0" tIns="0" rIns="0" bIns="0" rtlCol="0" anchor="t"/>
          <a:lstStyle/>
          <a:p>
            <a:pPr indent="0" marL="0">
              <a:buNone/>
            </a:pPr>
            <a:r>
              <a:rPr lang="en-US" sz="2000" dirty="0">
                <a:solidFill>
                  <a:srgbClr val="1A1A1A"/>
                </a:solidFill>
                <a:latin typeface="Calibri" pitchFamily="34" charset="0"/>
                <a:ea typeface="Calibri" pitchFamily="34" charset="-122"/>
                <a:cs typeface="Calibri" pitchFamily="34" charset="-120"/>
              </a:rPr>
              <a:t>Kiranas give goods on credit and note it in a paper book. Digital tools raised small-retailer revenue by 9.6% on average [1].</a:t>
            </a:r>
            <a:endParaRPr lang="en-US" sz="2000" dirty="0"/>
          </a:p>
        </p:txBody>
      </p:sp>
      <p:sp>
        <p:nvSpPr>
          <p:cNvPr id="11" name="Shape 9"/>
          <p:cNvSpPr/>
          <p:nvPr/>
        </p:nvSpPr>
        <p:spPr>
          <a:xfrm>
            <a:off x="4338218" y="1691640"/>
            <a:ext cx="3515258" cy="4206240"/>
          </a:xfrm>
          <a:prstGeom prst="roundRect">
            <a:avLst>
              <a:gd name="adj" fmla="val 3121"/>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12" name="Shape 10"/>
          <p:cNvSpPr/>
          <p:nvPr/>
        </p:nvSpPr>
        <p:spPr>
          <a:xfrm>
            <a:off x="4612538" y="1920240"/>
            <a:ext cx="502920" cy="502920"/>
          </a:xfrm>
          <a:prstGeom prst="ellipse">
            <a:avLst/>
          </a:prstGeom>
          <a:solidFill>
            <a:srgbClr val="1F3A68"/>
          </a:solidFill>
          <a:ln w="12700">
            <a:solidFill>
              <a:srgbClr val="1F3A68"/>
            </a:solidFill>
            <a:prstDash val="solid"/>
          </a:ln>
        </p:spPr>
      </p:sp>
      <p:sp>
        <p:nvSpPr>
          <p:cNvPr id="13" name="Text 11"/>
          <p:cNvSpPr txBox="1"/>
          <p:nvPr/>
        </p:nvSpPr>
        <p:spPr>
          <a:xfrm>
            <a:off x="4612538" y="19202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txBox="1"/>
          <p:nvPr/>
        </p:nvSpPr>
        <p:spPr>
          <a:xfrm>
            <a:off x="4612538" y="2651760"/>
            <a:ext cx="2966618" cy="548640"/>
          </a:xfrm>
          <a:prstGeom prst="rect">
            <a:avLst/>
          </a:prstGeom>
          <a:noFill/>
          <a:ln/>
        </p:spPr>
        <p:txBody>
          <a:bodyPr wrap="square" lIns="0" tIns="0" rIns="0" bIns="0" rtlCol="0" anchor="t"/>
          <a:lstStyle/>
          <a:p>
            <a:pPr indent="0" marL="0">
              <a:buNone/>
            </a:pPr>
            <a:r>
              <a:rPr lang="en-US" sz="2400" b="1" dirty="0">
                <a:solidFill>
                  <a:srgbClr val="1A1A1A"/>
                </a:solidFill>
                <a:latin typeface="Calibri" pitchFamily="34" charset="0"/>
                <a:ea typeface="Calibri" pitchFamily="34" charset="-122"/>
                <a:cs typeface="Calibri" pitchFamily="34" charset="-120"/>
              </a:rPr>
              <a:t>Typing is slow</a:t>
            </a:r>
            <a:endParaRPr lang="en-US" sz="2400" dirty="0"/>
          </a:p>
        </p:txBody>
      </p:sp>
      <p:sp>
        <p:nvSpPr>
          <p:cNvPr id="15" name="Text 13"/>
          <p:cNvSpPr txBox="1"/>
          <p:nvPr/>
        </p:nvSpPr>
        <p:spPr>
          <a:xfrm>
            <a:off x="4612538" y="3291840"/>
            <a:ext cx="2966618" cy="2468880"/>
          </a:xfrm>
          <a:prstGeom prst="rect">
            <a:avLst/>
          </a:prstGeom>
          <a:noFill/>
          <a:ln/>
        </p:spPr>
        <p:txBody>
          <a:bodyPr wrap="square" lIns="0" tIns="0" rIns="0" bIns="0" rtlCol="0" anchor="t"/>
          <a:lstStyle/>
          <a:p>
            <a:pPr indent="0" marL="0">
              <a:buNone/>
            </a:pPr>
            <a:r>
              <a:rPr lang="en-US" sz="2000" dirty="0">
                <a:solidFill>
                  <a:srgbClr val="1A1A1A"/>
                </a:solidFill>
                <a:latin typeface="Calibri" pitchFamily="34" charset="0"/>
                <a:ea typeface="Calibri" pitchFamily="34" charset="-122"/>
                <a:cs typeface="Calibri" pitchFamily="34" charset="-120"/>
              </a:rPr>
              <a:t>At a busy counter, finding a name and typing an amount takes time. It is harder for people less comfortable with phones [3].</a:t>
            </a:r>
            <a:endParaRPr lang="en-US" sz="2000" dirty="0"/>
          </a:p>
        </p:txBody>
      </p:sp>
      <p:sp>
        <p:nvSpPr>
          <p:cNvPr id="16" name="Shape 14"/>
          <p:cNvSpPr/>
          <p:nvPr/>
        </p:nvSpPr>
        <p:spPr>
          <a:xfrm>
            <a:off x="8127797" y="1691640"/>
            <a:ext cx="3515258" cy="4206240"/>
          </a:xfrm>
          <a:prstGeom prst="roundRect">
            <a:avLst>
              <a:gd name="adj" fmla="val 3121"/>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17" name="Shape 15"/>
          <p:cNvSpPr/>
          <p:nvPr/>
        </p:nvSpPr>
        <p:spPr>
          <a:xfrm>
            <a:off x="8402117" y="1920240"/>
            <a:ext cx="502920" cy="502920"/>
          </a:xfrm>
          <a:prstGeom prst="ellipse">
            <a:avLst/>
          </a:prstGeom>
          <a:solidFill>
            <a:srgbClr val="1F3A68"/>
          </a:solidFill>
          <a:ln w="12700">
            <a:solidFill>
              <a:srgbClr val="1F3A68"/>
            </a:solidFill>
            <a:prstDash val="solid"/>
          </a:ln>
        </p:spPr>
      </p:sp>
      <p:sp>
        <p:nvSpPr>
          <p:cNvPr id="18" name="Text 16"/>
          <p:cNvSpPr txBox="1"/>
          <p:nvPr/>
        </p:nvSpPr>
        <p:spPr>
          <a:xfrm>
            <a:off x="8402117" y="19202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txBox="1"/>
          <p:nvPr/>
        </p:nvSpPr>
        <p:spPr>
          <a:xfrm>
            <a:off x="8402117" y="2651760"/>
            <a:ext cx="2966618" cy="548640"/>
          </a:xfrm>
          <a:prstGeom prst="rect">
            <a:avLst/>
          </a:prstGeom>
          <a:noFill/>
          <a:ln/>
        </p:spPr>
        <p:txBody>
          <a:bodyPr wrap="square" lIns="0" tIns="0" rIns="0" bIns="0" rtlCol="0" anchor="t"/>
          <a:lstStyle/>
          <a:p>
            <a:pPr indent="0" marL="0">
              <a:buNone/>
            </a:pPr>
            <a:r>
              <a:rPr lang="en-US" sz="2400" b="1" dirty="0">
                <a:solidFill>
                  <a:srgbClr val="1A1A1A"/>
                </a:solidFill>
                <a:latin typeface="Calibri" pitchFamily="34" charset="0"/>
                <a:ea typeface="Calibri" pitchFamily="34" charset="-122"/>
                <a:cs typeface="Calibri" pitchFamily="34" charset="-120"/>
              </a:rPr>
              <a:t>Voice is natural</a:t>
            </a:r>
            <a:endParaRPr lang="en-US" sz="2400" dirty="0"/>
          </a:p>
        </p:txBody>
      </p:sp>
      <p:sp>
        <p:nvSpPr>
          <p:cNvPr id="20" name="Text 18"/>
          <p:cNvSpPr txBox="1"/>
          <p:nvPr/>
        </p:nvSpPr>
        <p:spPr>
          <a:xfrm>
            <a:off x="8402117" y="3291840"/>
            <a:ext cx="2966618" cy="2468880"/>
          </a:xfrm>
          <a:prstGeom prst="rect">
            <a:avLst/>
          </a:prstGeom>
          <a:noFill/>
          <a:ln/>
        </p:spPr>
        <p:txBody>
          <a:bodyPr wrap="square" lIns="0" tIns="0" rIns="0" bIns="0" rtlCol="0" anchor="t"/>
          <a:lstStyle/>
          <a:p>
            <a:pPr indent="0" marL="0">
              <a:buNone/>
            </a:pPr>
            <a:r>
              <a:rPr lang="en-US" sz="2000" dirty="0">
                <a:solidFill>
                  <a:srgbClr val="1A1A1A"/>
                </a:solidFill>
                <a:latin typeface="Calibri" pitchFamily="34" charset="0"/>
                <a:ea typeface="Calibri" pitchFamily="34" charset="-122"/>
                <a:cs typeface="Calibri" pitchFamily="34" charset="-120"/>
              </a:rPr>
              <a:t>Low-literacy users in India prefer voice over text [3], [4]. Whisper now works in Hindi and Marathi [5].</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1F3A68"/>
                </a:solidFill>
                <a:latin typeface="Calibri" pitchFamily="34" charset="0"/>
                <a:ea typeface="Calibri" pitchFamily="34" charset="-122"/>
                <a:cs typeface="Calibri" pitchFamily="34" charset="-120"/>
              </a:rPr>
              <a:t>INTRODUCTION</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Problem statement</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F6368"/>
                </a:solidFill>
                <a:latin typeface="Calibri" pitchFamily="34" charset="0"/>
                <a:ea typeface="Calibri" pitchFamily="34" charset="-122"/>
                <a:cs typeface="Calibri" pitchFamily="34" charset="-120"/>
              </a:rPr>
              <a:t>4 / 16</a:t>
            </a:r>
            <a:endParaRPr lang="en-US" sz="1200" dirty="0"/>
          </a:p>
        </p:txBody>
      </p:sp>
      <p:sp>
        <p:nvSpPr>
          <p:cNvPr id="6" name="Shape 4"/>
          <p:cNvSpPr/>
          <p:nvPr/>
        </p:nvSpPr>
        <p:spPr>
          <a:xfrm>
            <a:off x="548640" y="1645920"/>
            <a:ext cx="11094415" cy="1234440"/>
          </a:xfrm>
          <a:prstGeom prst="roundRect">
            <a:avLst>
              <a:gd name="adj" fmla="val 8889"/>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7" name="Text 5"/>
          <p:cNvSpPr txBox="1"/>
          <p:nvPr/>
        </p:nvSpPr>
        <p:spPr>
          <a:xfrm>
            <a:off x="868680" y="1783080"/>
            <a:ext cx="10454335" cy="1005840"/>
          </a:xfrm>
          <a:prstGeom prst="rect">
            <a:avLst/>
          </a:prstGeom>
          <a:noFill/>
          <a:ln/>
        </p:spPr>
        <p:txBody>
          <a:bodyPr wrap="square" lIns="0" tIns="0" rIns="0" bIns="0" rtlCol="0" anchor="ctr"/>
          <a:lstStyle/>
          <a:p>
            <a:pPr indent="0" marL="0">
              <a:buNone/>
            </a:pPr>
            <a:r>
              <a:rPr lang="en-US" sz="2200" b="1" dirty="0">
                <a:solidFill>
                  <a:srgbClr val="1F3A68"/>
                </a:solidFill>
                <a:latin typeface="Calibri" pitchFamily="34" charset="0"/>
                <a:ea typeface="Calibri" pitchFamily="34" charset="-122"/>
                <a:cs typeface="Calibri" pitchFamily="34" charset="-120"/>
              </a:rPr>
              <a:t>We do not know if an offline speech model on a cheap Android phone can capture the name, amount and type of mixed-language khata entries accurately enough, measured in rupees, and faster than typing.</a:t>
            </a:r>
            <a:endParaRPr lang="en-US" sz="2200" dirty="0"/>
          </a:p>
        </p:txBody>
      </p:sp>
      <p:sp>
        <p:nvSpPr>
          <p:cNvPr id="8" name="Text 6"/>
          <p:cNvSpPr txBox="1"/>
          <p:nvPr/>
        </p:nvSpPr>
        <p:spPr>
          <a:xfrm>
            <a:off x="548640" y="3246120"/>
            <a:ext cx="3515258" cy="457200"/>
          </a:xfrm>
          <a:prstGeom prst="rect">
            <a:avLst/>
          </a:prstGeom>
          <a:noFill/>
          <a:ln/>
        </p:spPr>
        <p:txBody>
          <a:bodyPr wrap="square" lIns="0" tIns="0" rIns="0" bIns="0" rtlCol="0" anchor="t"/>
          <a:lstStyle/>
          <a:p>
            <a:pPr indent="0" marL="0">
              <a:buNone/>
            </a:pPr>
            <a:r>
              <a:rPr lang="en-US" sz="2400" b="1" dirty="0">
                <a:solidFill>
                  <a:srgbClr val="1A1A1A"/>
                </a:solidFill>
                <a:latin typeface="Calibri" pitchFamily="34" charset="0"/>
                <a:ea typeface="Calibri" pitchFamily="34" charset="-122"/>
                <a:cs typeface="Calibri" pitchFamily="34" charset="-120"/>
              </a:rPr>
              <a:t>No internet</a:t>
            </a:r>
            <a:endParaRPr lang="en-US" sz="2400" dirty="0"/>
          </a:p>
        </p:txBody>
      </p:sp>
      <p:sp>
        <p:nvSpPr>
          <p:cNvPr id="9" name="Text 7"/>
          <p:cNvSpPr txBox="1"/>
          <p:nvPr/>
        </p:nvSpPr>
        <p:spPr>
          <a:xfrm>
            <a:off x="548640" y="3794760"/>
            <a:ext cx="3515258" cy="2011680"/>
          </a:xfrm>
          <a:prstGeom prst="rect">
            <a:avLst/>
          </a:prstGeom>
          <a:noFill/>
          <a:ln/>
        </p:spPr>
        <p:txBody>
          <a:bodyPr wrap="square" lIns="0" tIns="0" rIns="0" bIns="0" rtlCol="0" anchor="t"/>
          <a:lstStyle/>
          <a:p>
            <a:pPr indent="0" marL="0">
              <a:buNone/>
            </a:pPr>
            <a:r>
              <a:rPr lang="en-US" sz="2000" dirty="0">
                <a:solidFill>
                  <a:srgbClr val="1A1A1A"/>
                </a:solidFill>
                <a:latin typeface="Calibri" pitchFamily="34" charset="0"/>
                <a:ea typeface="Calibri" pitchFamily="34" charset="-122"/>
                <a:cs typeface="Calibri" pitchFamily="34" charset="-120"/>
              </a:rPr>
              <a:t>Good speech recognition runs in the cloud. Shops lose signal.</a:t>
            </a:r>
            <a:endParaRPr lang="en-US" sz="2000" dirty="0"/>
          </a:p>
        </p:txBody>
      </p:sp>
      <p:sp>
        <p:nvSpPr>
          <p:cNvPr id="10" name="Text 8"/>
          <p:cNvSpPr txBox="1"/>
          <p:nvPr/>
        </p:nvSpPr>
        <p:spPr>
          <a:xfrm>
            <a:off x="4338218" y="3246120"/>
            <a:ext cx="3515258" cy="457200"/>
          </a:xfrm>
          <a:prstGeom prst="rect">
            <a:avLst/>
          </a:prstGeom>
          <a:noFill/>
          <a:ln/>
        </p:spPr>
        <p:txBody>
          <a:bodyPr wrap="square" lIns="0" tIns="0" rIns="0" bIns="0" rtlCol="0" anchor="t"/>
          <a:lstStyle/>
          <a:p>
            <a:pPr indent="0" marL="0">
              <a:buNone/>
            </a:pPr>
            <a:r>
              <a:rPr lang="en-US" sz="2400" b="1" dirty="0">
                <a:solidFill>
                  <a:srgbClr val="1A1A1A"/>
                </a:solidFill>
                <a:latin typeface="Calibri" pitchFamily="34" charset="0"/>
                <a:ea typeface="Calibri" pitchFamily="34" charset="-122"/>
                <a:cs typeface="Calibri" pitchFamily="34" charset="-120"/>
              </a:rPr>
              <a:t>Mixed languages</a:t>
            </a:r>
            <a:endParaRPr lang="en-US" sz="2400" dirty="0"/>
          </a:p>
        </p:txBody>
      </p:sp>
      <p:sp>
        <p:nvSpPr>
          <p:cNvPr id="11" name="Text 9"/>
          <p:cNvSpPr txBox="1"/>
          <p:nvPr/>
        </p:nvSpPr>
        <p:spPr>
          <a:xfrm>
            <a:off x="4338218" y="3794760"/>
            <a:ext cx="3515258" cy="2011680"/>
          </a:xfrm>
          <a:prstGeom prst="rect">
            <a:avLst/>
          </a:prstGeom>
          <a:noFill/>
          <a:ln/>
        </p:spPr>
        <p:txBody>
          <a:bodyPr wrap="square" lIns="0" tIns="0" rIns="0" bIns="0" rtlCol="0" anchor="t"/>
          <a:lstStyle/>
          <a:p>
            <a:pPr indent="0" marL="0">
              <a:buNone/>
            </a:pPr>
            <a:r>
              <a:rPr lang="en-US" sz="2000" dirty="0">
                <a:solidFill>
                  <a:srgbClr val="1A1A1A"/>
                </a:solidFill>
                <a:latin typeface="Calibri" pitchFamily="34" charset="0"/>
                <a:ea typeface="Calibri" pitchFamily="34" charset="-122"/>
                <a:cs typeface="Calibri" pitchFamily="34" charset="-120"/>
              </a:rPr>
              <a:t>“Ramesh ka 250 ka udhaar add karo”: Hindi, English and Marathi in one line.</a:t>
            </a:r>
            <a:endParaRPr lang="en-US" sz="2000" dirty="0"/>
          </a:p>
        </p:txBody>
      </p:sp>
      <p:sp>
        <p:nvSpPr>
          <p:cNvPr id="12" name="Text 10"/>
          <p:cNvSpPr txBox="1"/>
          <p:nvPr/>
        </p:nvSpPr>
        <p:spPr>
          <a:xfrm>
            <a:off x="8127797" y="3246120"/>
            <a:ext cx="3515258" cy="457200"/>
          </a:xfrm>
          <a:prstGeom prst="rect">
            <a:avLst/>
          </a:prstGeom>
          <a:noFill/>
          <a:ln/>
        </p:spPr>
        <p:txBody>
          <a:bodyPr wrap="square" lIns="0" tIns="0" rIns="0" bIns="0" rtlCol="0" anchor="t"/>
          <a:lstStyle/>
          <a:p>
            <a:pPr indent="0" marL="0">
              <a:buNone/>
            </a:pPr>
            <a:r>
              <a:rPr lang="en-US" sz="2400" b="1" dirty="0">
                <a:solidFill>
                  <a:srgbClr val="1A1A1A"/>
                </a:solidFill>
                <a:latin typeface="Calibri" pitchFamily="34" charset="0"/>
                <a:ea typeface="Calibri" pitchFamily="34" charset="-122"/>
                <a:cs typeface="Calibri" pitchFamily="34" charset="-120"/>
              </a:rPr>
              <a:t>Money must be exact</a:t>
            </a:r>
            <a:endParaRPr lang="en-US" sz="2400" dirty="0"/>
          </a:p>
        </p:txBody>
      </p:sp>
      <p:sp>
        <p:nvSpPr>
          <p:cNvPr id="13" name="Text 11"/>
          <p:cNvSpPr txBox="1"/>
          <p:nvPr/>
        </p:nvSpPr>
        <p:spPr>
          <a:xfrm>
            <a:off x="8127797" y="3794760"/>
            <a:ext cx="3515258" cy="2011680"/>
          </a:xfrm>
          <a:prstGeom prst="rect">
            <a:avLst/>
          </a:prstGeom>
          <a:noFill/>
          <a:ln/>
        </p:spPr>
        <p:txBody>
          <a:bodyPr wrap="square" lIns="0" tIns="0" rIns="0" bIns="0" rtlCol="0" anchor="t"/>
          <a:lstStyle/>
          <a:p>
            <a:pPr indent="0" marL="0">
              <a:buNone/>
            </a:pPr>
            <a:r>
              <a:rPr lang="en-US" sz="2000" dirty="0">
                <a:solidFill>
                  <a:srgbClr val="1A1A1A"/>
                </a:solidFill>
                <a:latin typeface="Calibri" pitchFamily="34" charset="0"/>
                <a:ea typeface="Calibri" pitchFamily="34" charset="-122"/>
                <a:cs typeface="Calibri" pitchFamily="34" charset="-120"/>
              </a:rPr>
              <a:t>“dhai sau” (250) heard as “do sau” (200) = ₹50 wrong.</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1F3A68"/>
                </a:solidFill>
                <a:latin typeface="Calibri" pitchFamily="34" charset="0"/>
                <a:ea typeface="Calibri" pitchFamily="34" charset="-122"/>
                <a:cs typeface="Calibri" pitchFamily="34" charset="-120"/>
              </a:rPr>
              <a:t>LITERATURE</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Literature survey</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F6368"/>
                </a:solidFill>
                <a:latin typeface="Calibri" pitchFamily="34" charset="0"/>
                <a:ea typeface="Calibri" pitchFamily="34" charset="-122"/>
                <a:cs typeface="Calibri" pitchFamily="34" charset="-120"/>
              </a:rPr>
              <a:t>5 / 16</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822960"/>
                <a:gridCol w="2377440"/>
                <a:gridCol w="4114800"/>
                <a:gridCol w="3776472"/>
              </a:tblGrid>
              <a:tr h="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Year</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Study</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they did</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it leaves open for us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r>
              <a:tr h="0">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2007</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Medhi et al. [3]</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Text-free, voice-based UI for low-literacy users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Recorded voice only, no speech recognition</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0">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2020</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Bastianelli et al. [14]</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SLURP: judge spoken commands by extracted details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English only, no money values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r>
              <a:tr h="0">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2023</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Radford et al. [5]</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Whisper, trained on 680,000 h, many languages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General speech, large models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0">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2023</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Bhogale et al. [6]</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IndicWhisper, best on 39 of 59 Indian test sets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No shop or khata speech</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r>
              <a:tr h="0">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2025</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Biswas et al. [10]</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Whisper adapted to Hindi–English mixed speech</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No Marathi, not offline</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0">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2026</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Söhler et al. [19]</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8-bit Whisper-small: 57% smaller, no accuracy loss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English, servers, not phones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1F3A68"/>
                </a:solidFill>
                <a:latin typeface="Calibri" pitchFamily="34" charset="0"/>
                <a:ea typeface="Calibri" pitchFamily="34" charset="-122"/>
                <a:cs typeface="Calibri" pitchFamily="34" charset="-120"/>
              </a:rPr>
              <a:t>LITERATURE</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Research gap</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F6368"/>
                </a:solidFill>
                <a:latin typeface="Calibri" pitchFamily="34" charset="0"/>
                <a:ea typeface="Calibri" pitchFamily="34" charset="-122"/>
                <a:cs typeface="Calibri" pitchFamily="34" charset="-120"/>
              </a:rPr>
              <a:t>6 / 16</a:t>
            </a:r>
            <a:endParaRPr lang="en-US" sz="1200" dirty="0"/>
          </a:p>
        </p:txBody>
      </p:sp>
      <p:sp>
        <p:nvSpPr>
          <p:cNvPr id="6" name="Shape 4"/>
          <p:cNvSpPr/>
          <p:nvPr/>
        </p:nvSpPr>
        <p:spPr>
          <a:xfrm>
            <a:off x="548640" y="1691640"/>
            <a:ext cx="2567864"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7" name="Text 5"/>
          <p:cNvSpPr txBox="1"/>
          <p:nvPr/>
        </p:nvSpPr>
        <p:spPr>
          <a:xfrm>
            <a:off x="777240" y="1828800"/>
            <a:ext cx="2110664" cy="457200"/>
          </a:xfrm>
          <a:prstGeom prst="rect">
            <a:avLst/>
          </a:prstGeom>
          <a:noFill/>
          <a:ln/>
        </p:spPr>
        <p:txBody>
          <a:bodyPr wrap="square" lIns="0" tIns="0" rIns="0" bIns="0" rtlCol="0" anchor="t"/>
          <a:lstStyle/>
          <a:p>
            <a:pPr indent="0" marL="0">
              <a:buNone/>
            </a:pPr>
            <a:r>
              <a:rPr lang="en-US" sz="2200" b="1" dirty="0">
                <a:solidFill>
                  <a:srgbClr val="1F3A68"/>
                </a:solidFill>
                <a:latin typeface="Calibri" pitchFamily="34" charset="0"/>
                <a:ea typeface="Calibri" pitchFamily="34" charset="-122"/>
                <a:cs typeface="Calibri" pitchFamily="34" charset="-120"/>
              </a:rPr>
              <a:t>2003–2010</a:t>
            </a:r>
            <a:endParaRPr lang="en-US" sz="2200" dirty="0"/>
          </a:p>
        </p:txBody>
      </p:sp>
      <p:sp>
        <p:nvSpPr>
          <p:cNvPr id="8" name="Text 6"/>
          <p:cNvSpPr txBox="1"/>
          <p:nvPr/>
        </p:nvSpPr>
        <p:spPr>
          <a:xfrm>
            <a:off x="777240" y="2331720"/>
            <a:ext cx="2110664" cy="1280160"/>
          </a:xfrm>
          <a:prstGeom prst="rect">
            <a:avLst/>
          </a:prstGeom>
          <a:noFill/>
          <a:ln/>
        </p:spPr>
        <p:txBody>
          <a:bodyPr wrap="square" lIns="0" tIns="0" rIns="0" bIns="0" rtlCol="0" anchor="t"/>
          <a:lstStyle/>
          <a:p>
            <a:pPr indent="0" marL="0">
              <a:buNone/>
            </a:pPr>
            <a:r>
              <a:rPr lang="en-US" sz="1800" dirty="0">
                <a:solidFill>
                  <a:srgbClr val="1A1A1A"/>
                </a:solidFill>
                <a:latin typeface="Calibri" pitchFamily="34" charset="0"/>
                <a:ea typeface="Calibri" pitchFamily="34" charset="-122"/>
                <a:cs typeface="Calibri" pitchFamily="34" charset="-120"/>
              </a:rPr>
              <a:t>Voice suits low-literacy users; WER is imperfect</a:t>
            </a:r>
            <a:endParaRPr lang="en-US" sz="1800" dirty="0"/>
          </a:p>
        </p:txBody>
      </p:sp>
      <p:sp>
        <p:nvSpPr>
          <p:cNvPr id="9" name="Shape 7"/>
          <p:cNvSpPr/>
          <p:nvPr/>
        </p:nvSpPr>
        <p:spPr>
          <a:xfrm>
            <a:off x="3153080" y="2560320"/>
            <a:ext cx="201168" cy="274320"/>
          </a:xfrm>
          <a:prstGeom prst="rightArrow">
            <a:avLst/>
          </a:prstGeom>
          <a:solidFill>
            <a:srgbClr val="1F3A68"/>
          </a:solidFill>
          <a:ln w="12700">
            <a:solidFill>
              <a:srgbClr val="1F3A68"/>
            </a:solidFill>
            <a:prstDash val="solid"/>
          </a:ln>
        </p:spPr>
      </p:sp>
      <p:sp>
        <p:nvSpPr>
          <p:cNvPr id="10" name="Shape 8"/>
          <p:cNvSpPr/>
          <p:nvPr/>
        </p:nvSpPr>
        <p:spPr>
          <a:xfrm>
            <a:off x="3390824" y="1691640"/>
            <a:ext cx="2567864"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11" name="Text 9"/>
          <p:cNvSpPr txBox="1"/>
          <p:nvPr/>
        </p:nvSpPr>
        <p:spPr>
          <a:xfrm>
            <a:off x="3619424" y="1828800"/>
            <a:ext cx="2110664" cy="457200"/>
          </a:xfrm>
          <a:prstGeom prst="rect">
            <a:avLst/>
          </a:prstGeom>
          <a:noFill/>
          <a:ln/>
        </p:spPr>
        <p:txBody>
          <a:bodyPr wrap="square" lIns="0" tIns="0" rIns="0" bIns="0" rtlCol="0" anchor="t"/>
          <a:lstStyle/>
          <a:p>
            <a:pPr indent="0" marL="0">
              <a:buNone/>
            </a:pPr>
            <a:r>
              <a:rPr lang="en-US" sz="2200" b="1" dirty="0">
                <a:solidFill>
                  <a:srgbClr val="1F3A68"/>
                </a:solidFill>
                <a:latin typeface="Calibri" pitchFamily="34" charset="0"/>
                <a:ea typeface="Calibri" pitchFamily="34" charset="-122"/>
                <a:cs typeface="Calibri" pitchFamily="34" charset="-120"/>
              </a:rPr>
              <a:t>2019–2021</a:t>
            </a:r>
            <a:endParaRPr lang="en-US" sz="2200" dirty="0"/>
          </a:p>
        </p:txBody>
      </p:sp>
      <p:sp>
        <p:nvSpPr>
          <p:cNvPr id="12" name="Text 10"/>
          <p:cNvSpPr txBox="1"/>
          <p:nvPr/>
        </p:nvSpPr>
        <p:spPr>
          <a:xfrm>
            <a:off x="3619424" y="2331720"/>
            <a:ext cx="2110664" cy="1280160"/>
          </a:xfrm>
          <a:prstGeom prst="rect">
            <a:avLst/>
          </a:prstGeom>
          <a:noFill/>
          <a:ln/>
        </p:spPr>
        <p:txBody>
          <a:bodyPr wrap="square" lIns="0" tIns="0" rIns="0" bIns="0" rtlCol="0" anchor="t"/>
          <a:lstStyle/>
          <a:p>
            <a:pPr indent="0" marL="0">
              <a:buNone/>
            </a:pPr>
            <a:r>
              <a:rPr lang="en-US" sz="1800" dirty="0">
                <a:solidFill>
                  <a:srgbClr val="1A1A1A"/>
                </a:solidFill>
                <a:latin typeface="Calibri" pitchFamily="34" charset="0"/>
                <a:ea typeface="Calibri" pitchFamily="34" charset="-122"/>
                <a:cs typeface="Calibri" pitchFamily="34" charset="-120"/>
              </a:rPr>
              <a:t>Mixed Indian speech is hard; judge by details</a:t>
            </a:r>
            <a:endParaRPr lang="en-US" sz="1800" dirty="0"/>
          </a:p>
        </p:txBody>
      </p:sp>
      <p:sp>
        <p:nvSpPr>
          <p:cNvPr id="13" name="Shape 11"/>
          <p:cNvSpPr/>
          <p:nvPr/>
        </p:nvSpPr>
        <p:spPr>
          <a:xfrm>
            <a:off x="5995264" y="2560320"/>
            <a:ext cx="201168" cy="274320"/>
          </a:xfrm>
          <a:prstGeom prst="rightArrow">
            <a:avLst/>
          </a:prstGeom>
          <a:solidFill>
            <a:srgbClr val="1F3A68"/>
          </a:solidFill>
          <a:ln w="12700">
            <a:solidFill>
              <a:srgbClr val="1F3A68"/>
            </a:solidFill>
            <a:prstDash val="solid"/>
          </a:ln>
        </p:spPr>
      </p:sp>
      <p:sp>
        <p:nvSpPr>
          <p:cNvPr id="14" name="Shape 12"/>
          <p:cNvSpPr/>
          <p:nvPr/>
        </p:nvSpPr>
        <p:spPr>
          <a:xfrm>
            <a:off x="6233008" y="1691640"/>
            <a:ext cx="2567864"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15" name="Text 13"/>
          <p:cNvSpPr txBox="1"/>
          <p:nvPr/>
        </p:nvSpPr>
        <p:spPr>
          <a:xfrm>
            <a:off x="6461608" y="1828800"/>
            <a:ext cx="2110664" cy="457200"/>
          </a:xfrm>
          <a:prstGeom prst="rect">
            <a:avLst/>
          </a:prstGeom>
          <a:noFill/>
          <a:ln/>
        </p:spPr>
        <p:txBody>
          <a:bodyPr wrap="square" lIns="0" tIns="0" rIns="0" bIns="0" rtlCol="0" anchor="t"/>
          <a:lstStyle/>
          <a:p>
            <a:pPr indent="0" marL="0">
              <a:buNone/>
            </a:pPr>
            <a:r>
              <a:rPr lang="en-US" sz="2200" b="1" dirty="0">
                <a:solidFill>
                  <a:srgbClr val="1F3A68"/>
                </a:solidFill>
                <a:latin typeface="Calibri" pitchFamily="34" charset="0"/>
                <a:ea typeface="Calibri" pitchFamily="34" charset="-122"/>
                <a:cs typeface="Calibri" pitchFamily="34" charset="-120"/>
              </a:rPr>
              <a:t>2022–2024</a:t>
            </a:r>
            <a:endParaRPr lang="en-US" sz="2200" dirty="0"/>
          </a:p>
        </p:txBody>
      </p:sp>
      <p:sp>
        <p:nvSpPr>
          <p:cNvPr id="16" name="Text 14"/>
          <p:cNvSpPr txBox="1"/>
          <p:nvPr/>
        </p:nvSpPr>
        <p:spPr>
          <a:xfrm>
            <a:off x="6461608" y="2331720"/>
            <a:ext cx="2110664" cy="1280160"/>
          </a:xfrm>
          <a:prstGeom prst="rect">
            <a:avLst/>
          </a:prstGeom>
          <a:noFill/>
          <a:ln/>
        </p:spPr>
        <p:txBody>
          <a:bodyPr wrap="square" lIns="0" tIns="0" rIns="0" bIns="0" rtlCol="0" anchor="t"/>
          <a:lstStyle/>
          <a:p>
            <a:pPr indent="0" marL="0">
              <a:buNone/>
            </a:pPr>
            <a:r>
              <a:rPr lang="en-US" sz="1800" dirty="0">
                <a:solidFill>
                  <a:srgbClr val="1A1A1A"/>
                </a:solidFill>
                <a:latin typeface="Calibri" pitchFamily="34" charset="0"/>
                <a:ea typeface="Calibri" pitchFamily="34" charset="-122"/>
                <a:cs typeface="Calibri" pitchFamily="34" charset="-120"/>
              </a:rPr>
              <a:t>Big multilingual and Indian models</a:t>
            </a:r>
            <a:endParaRPr lang="en-US" sz="1800" dirty="0"/>
          </a:p>
        </p:txBody>
      </p:sp>
      <p:sp>
        <p:nvSpPr>
          <p:cNvPr id="17" name="Shape 15"/>
          <p:cNvSpPr/>
          <p:nvPr/>
        </p:nvSpPr>
        <p:spPr>
          <a:xfrm>
            <a:off x="8837447" y="2560320"/>
            <a:ext cx="201168" cy="274320"/>
          </a:xfrm>
          <a:prstGeom prst="rightArrow">
            <a:avLst/>
          </a:prstGeom>
          <a:solidFill>
            <a:srgbClr val="1F3A68"/>
          </a:solidFill>
          <a:ln w="12700">
            <a:solidFill>
              <a:srgbClr val="1F3A68"/>
            </a:solidFill>
            <a:prstDash val="solid"/>
          </a:ln>
        </p:spPr>
      </p:sp>
      <p:sp>
        <p:nvSpPr>
          <p:cNvPr id="18" name="Shape 16"/>
          <p:cNvSpPr/>
          <p:nvPr/>
        </p:nvSpPr>
        <p:spPr>
          <a:xfrm>
            <a:off x="9075191" y="1691640"/>
            <a:ext cx="2567864" cy="2011680"/>
          </a:xfrm>
          <a:prstGeom prst="roundRect">
            <a:avLst>
              <a:gd name="adj" fmla="val 5455"/>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19" name="Text 17"/>
          <p:cNvSpPr txBox="1"/>
          <p:nvPr/>
        </p:nvSpPr>
        <p:spPr>
          <a:xfrm>
            <a:off x="9303791" y="1828800"/>
            <a:ext cx="2110664" cy="457200"/>
          </a:xfrm>
          <a:prstGeom prst="rect">
            <a:avLst/>
          </a:prstGeom>
          <a:noFill/>
          <a:ln/>
        </p:spPr>
        <p:txBody>
          <a:bodyPr wrap="square" lIns="0" tIns="0" rIns="0" bIns="0" rtlCol="0" anchor="t"/>
          <a:lstStyle/>
          <a:p>
            <a:pPr indent="0" marL="0">
              <a:buNone/>
            </a:pPr>
            <a:r>
              <a:rPr lang="en-US" sz="2200" b="1" dirty="0">
                <a:solidFill>
                  <a:srgbClr val="1F3A68"/>
                </a:solidFill>
                <a:latin typeface="Calibri" pitchFamily="34" charset="0"/>
                <a:ea typeface="Calibri" pitchFamily="34" charset="-122"/>
                <a:cs typeface="Calibri" pitchFamily="34" charset="-120"/>
              </a:rPr>
              <a:t>2025–2026</a:t>
            </a:r>
            <a:endParaRPr lang="en-US" sz="2200" dirty="0"/>
          </a:p>
        </p:txBody>
      </p:sp>
      <p:sp>
        <p:nvSpPr>
          <p:cNvPr id="20" name="Text 18"/>
          <p:cNvSpPr txBox="1"/>
          <p:nvPr/>
        </p:nvSpPr>
        <p:spPr>
          <a:xfrm>
            <a:off x="9303791" y="2331720"/>
            <a:ext cx="2110664" cy="1280160"/>
          </a:xfrm>
          <a:prstGeom prst="rect">
            <a:avLst/>
          </a:prstGeom>
          <a:noFill/>
          <a:ln/>
        </p:spPr>
        <p:txBody>
          <a:bodyPr wrap="square" lIns="0" tIns="0" rIns="0" bIns="0" rtlCol="0" anchor="t"/>
          <a:lstStyle/>
          <a:p>
            <a:pPr indent="0" marL="0">
              <a:buNone/>
            </a:pPr>
            <a:r>
              <a:rPr lang="en-US" sz="1800" dirty="0">
                <a:solidFill>
                  <a:srgbClr val="1A1A1A"/>
                </a:solidFill>
                <a:latin typeface="Calibri" pitchFamily="34" charset="0"/>
                <a:ea typeface="Calibri" pitchFamily="34" charset="-122"/>
                <a:cs typeface="Calibri" pitchFamily="34" charset="-120"/>
              </a:rPr>
              <a:t>Whisper shrunk and tuned for Indian speech</a:t>
            </a:r>
            <a:endParaRPr lang="en-US" sz="1800" dirty="0"/>
          </a:p>
        </p:txBody>
      </p:sp>
      <p:sp>
        <p:nvSpPr>
          <p:cNvPr id="21" name="Shape 19"/>
          <p:cNvSpPr/>
          <p:nvPr/>
        </p:nvSpPr>
        <p:spPr>
          <a:xfrm>
            <a:off x="548640" y="4069080"/>
            <a:ext cx="11094415" cy="1920240"/>
          </a:xfrm>
          <a:prstGeom prst="roundRect">
            <a:avLst>
              <a:gd name="adj" fmla="val 5714"/>
            </a:avLst>
          </a:prstGeom>
          <a:solidFill>
            <a:srgbClr val="FFFFFF"/>
          </a:solidFill>
          <a:ln w="31750">
            <a:solidFill>
              <a:srgbClr val="E8A33D"/>
            </a:solidFill>
            <a:prstDash val="solid"/>
          </a:ln>
        </p:spPr>
      </p:sp>
      <p:sp>
        <p:nvSpPr>
          <p:cNvPr id="22" name="Text 20"/>
          <p:cNvSpPr txBox="1"/>
          <p:nvPr/>
        </p:nvSpPr>
        <p:spPr>
          <a:xfrm>
            <a:off x="868680" y="4206240"/>
            <a:ext cx="4572000" cy="457200"/>
          </a:xfrm>
          <a:prstGeom prst="rect">
            <a:avLst/>
          </a:prstGeom>
          <a:noFill/>
          <a:ln/>
        </p:spPr>
        <p:txBody>
          <a:bodyPr wrap="square" lIns="0" tIns="0" rIns="0" bIns="0" rtlCol="0" anchor="t"/>
          <a:lstStyle/>
          <a:p>
            <a:pPr indent="0" marL="0">
              <a:buNone/>
            </a:pPr>
            <a:r>
              <a:rPr lang="en-US" sz="2200" b="1" dirty="0">
                <a:solidFill>
                  <a:srgbClr val="1F3A68"/>
                </a:solidFill>
                <a:latin typeface="Calibri" pitchFamily="34" charset="0"/>
                <a:ea typeface="Calibri" pitchFamily="34" charset="-122"/>
                <a:cs typeface="Calibri" pitchFamily="34" charset="-120"/>
              </a:rPr>
              <a:t>Still missing</a:t>
            </a:r>
            <a:endParaRPr lang="en-US" sz="2200" dirty="0"/>
          </a:p>
        </p:txBody>
      </p:sp>
      <p:sp>
        <p:nvSpPr>
          <p:cNvPr id="23" name="Text 21"/>
          <p:cNvSpPr txBox="1"/>
          <p:nvPr/>
        </p:nvSpPr>
        <p:spPr>
          <a:xfrm>
            <a:off x="868680" y="4709160"/>
            <a:ext cx="10454335" cy="128016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No test on short, mixed Hindi–Marathi–English khata commands</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No test of offline recognition on a cheap Android phone</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No error measure based on money; WER counts every word the same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1F3A68"/>
                </a:solidFill>
                <a:latin typeface="Calibri" pitchFamily="34" charset="0"/>
                <a:ea typeface="Calibri" pitchFamily="34" charset="-122"/>
                <a:cs typeface="Calibri" pitchFamily="34" charset="-120"/>
              </a:rPr>
              <a:t>OUR STUDY</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Research question and objectives</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F6368"/>
                </a:solidFill>
                <a:latin typeface="Calibri" pitchFamily="34" charset="0"/>
                <a:ea typeface="Calibri" pitchFamily="34" charset="-122"/>
                <a:cs typeface="Calibri" pitchFamily="34" charset="-120"/>
              </a:rPr>
              <a:t>7 / 16</a:t>
            </a:r>
            <a:endParaRPr lang="en-US" sz="1200" dirty="0"/>
          </a:p>
        </p:txBody>
      </p:sp>
      <p:sp>
        <p:nvSpPr>
          <p:cNvPr id="6" name="Shape 4"/>
          <p:cNvSpPr/>
          <p:nvPr/>
        </p:nvSpPr>
        <p:spPr>
          <a:xfrm>
            <a:off x="548640" y="1645920"/>
            <a:ext cx="11094415" cy="1051560"/>
          </a:xfrm>
          <a:prstGeom prst="roundRect">
            <a:avLst>
              <a:gd name="adj" fmla="val 10435"/>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7" name="Text 5"/>
          <p:cNvSpPr txBox="1"/>
          <p:nvPr/>
        </p:nvSpPr>
        <p:spPr>
          <a:xfrm>
            <a:off x="868680" y="1737360"/>
            <a:ext cx="10454335" cy="868680"/>
          </a:xfrm>
          <a:prstGeom prst="rect">
            <a:avLst/>
          </a:prstGeom>
          <a:noFill/>
          <a:ln/>
        </p:spPr>
        <p:txBody>
          <a:bodyPr wrap="square" lIns="0" tIns="0" rIns="0" bIns="0" rtlCol="0" anchor="ctr"/>
          <a:lstStyle/>
          <a:p>
            <a:pPr indent="0" marL="0">
              <a:buNone/>
            </a:pPr>
            <a:r>
              <a:rPr lang="en-US" sz="2200" b="1" dirty="0">
                <a:solidFill>
                  <a:srgbClr val="1F3A68"/>
                </a:solidFill>
                <a:latin typeface="Calibri" pitchFamily="34" charset="0"/>
                <a:ea typeface="Calibri" pitchFamily="34" charset="-122"/>
                <a:cs typeface="Calibri" pitchFamily="34" charset="-120"/>
              </a:rPr>
              <a:t>Can an offline speech model on a low-cost Android phone record mixed-language khata entries with few rupee errors, and faster than typing?</a:t>
            </a:r>
            <a:endParaRPr lang="en-US" sz="2200" dirty="0"/>
          </a:p>
        </p:txBody>
      </p:sp>
      <p:sp>
        <p:nvSpPr>
          <p:cNvPr id="8" name="Shape 6"/>
          <p:cNvSpPr/>
          <p:nvPr/>
        </p:nvSpPr>
        <p:spPr>
          <a:xfrm>
            <a:off x="548640" y="3017520"/>
            <a:ext cx="566928" cy="566928"/>
          </a:xfrm>
          <a:prstGeom prst="ellipse">
            <a:avLst/>
          </a:prstGeom>
          <a:solidFill>
            <a:srgbClr val="1F3A68"/>
          </a:solidFill>
          <a:ln w="12700">
            <a:solidFill>
              <a:srgbClr val="1F3A68"/>
            </a:solidFill>
            <a:prstDash val="solid"/>
          </a:ln>
        </p:spPr>
      </p:sp>
      <p:sp>
        <p:nvSpPr>
          <p:cNvPr id="9" name="Text 7"/>
          <p:cNvSpPr txBox="1"/>
          <p:nvPr/>
        </p:nvSpPr>
        <p:spPr>
          <a:xfrm>
            <a:off x="548640" y="3017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O1</a:t>
            </a:r>
            <a:endParaRPr lang="en-US" sz="2000" dirty="0"/>
          </a:p>
        </p:txBody>
      </p:sp>
      <p:sp>
        <p:nvSpPr>
          <p:cNvPr id="10" name="Text 8"/>
          <p:cNvSpPr txBox="1"/>
          <p:nvPr/>
        </p:nvSpPr>
        <p:spPr>
          <a:xfrm>
            <a:off x="1371600" y="3017520"/>
            <a:ext cx="10271455" cy="566928"/>
          </a:xfrm>
          <a:prstGeom prst="rect">
            <a:avLst/>
          </a:prstGeom>
          <a:noFill/>
          <a:ln/>
        </p:spPr>
        <p:txBody>
          <a:bodyPr wrap="square" lIns="0" tIns="0" rIns="0" bIns="0" rtlCol="0" anchor="ctr"/>
          <a:lstStyle/>
          <a:p>
            <a:pPr indent="0" marL="0">
              <a:buNone/>
            </a:pPr>
            <a:r>
              <a:rPr lang="en-US" sz="2000" dirty="0">
                <a:solidFill>
                  <a:srgbClr val="1A1A1A"/>
                </a:solidFill>
                <a:latin typeface="Calibri" pitchFamily="34" charset="0"/>
                <a:ea typeface="Calibri" pitchFamily="34" charset="-122"/>
                <a:cs typeface="Calibri" pitchFamily="34" charset="-120"/>
              </a:rPr>
              <a:t>Record about 360 khata commands from 12 speakers, with known correct answers</a:t>
            </a:r>
            <a:endParaRPr lang="en-US" sz="2000" dirty="0"/>
          </a:p>
        </p:txBody>
      </p:sp>
      <p:sp>
        <p:nvSpPr>
          <p:cNvPr id="11" name="Shape 9"/>
          <p:cNvSpPr/>
          <p:nvPr/>
        </p:nvSpPr>
        <p:spPr>
          <a:xfrm>
            <a:off x="548640" y="3822192"/>
            <a:ext cx="566928" cy="566928"/>
          </a:xfrm>
          <a:prstGeom prst="ellipse">
            <a:avLst/>
          </a:prstGeom>
          <a:solidFill>
            <a:srgbClr val="1F3A68"/>
          </a:solidFill>
          <a:ln w="12700">
            <a:solidFill>
              <a:srgbClr val="1F3A68"/>
            </a:solidFill>
            <a:prstDash val="solid"/>
          </a:ln>
        </p:spPr>
      </p:sp>
      <p:sp>
        <p:nvSpPr>
          <p:cNvPr id="12" name="Text 10"/>
          <p:cNvSpPr txBox="1"/>
          <p:nvPr/>
        </p:nvSpPr>
        <p:spPr>
          <a:xfrm>
            <a:off x="548640" y="382219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O2</a:t>
            </a:r>
            <a:endParaRPr lang="en-US" sz="2000" dirty="0"/>
          </a:p>
        </p:txBody>
      </p:sp>
      <p:sp>
        <p:nvSpPr>
          <p:cNvPr id="13" name="Text 11"/>
          <p:cNvSpPr txBox="1"/>
          <p:nvPr/>
        </p:nvSpPr>
        <p:spPr>
          <a:xfrm>
            <a:off x="1371600" y="3822192"/>
            <a:ext cx="10271455" cy="566928"/>
          </a:xfrm>
          <a:prstGeom prst="rect">
            <a:avLst/>
          </a:prstGeom>
          <a:noFill/>
          <a:ln/>
        </p:spPr>
        <p:txBody>
          <a:bodyPr wrap="square" lIns="0" tIns="0" rIns="0" bIns="0" rtlCol="0" anchor="ctr"/>
          <a:lstStyle/>
          <a:p>
            <a:pPr indent="0" marL="0">
              <a:buNone/>
            </a:pPr>
            <a:r>
              <a:rPr lang="en-US" sz="2000" dirty="0">
                <a:solidFill>
                  <a:srgbClr val="1A1A1A"/>
                </a:solidFill>
                <a:latin typeface="Calibri" pitchFamily="34" charset="0"/>
                <a:ea typeface="Calibri" pitchFamily="34" charset="-122"/>
                <a:cs typeface="Calibri" pitchFamily="34" charset="-120"/>
              </a:rPr>
              <a:t>Build offline voice entry in SmartOps; compare it with cloud, with and without a customer-name hint</a:t>
            </a:r>
            <a:endParaRPr lang="en-US" sz="2000" dirty="0"/>
          </a:p>
        </p:txBody>
      </p:sp>
      <p:sp>
        <p:nvSpPr>
          <p:cNvPr id="14" name="Shape 12"/>
          <p:cNvSpPr/>
          <p:nvPr/>
        </p:nvSpPr>
        <p:spPr>
          <a:xfrm>
            <a:off x="548640" y="4626864"/>
            <a:ext cx="566928" cy="566928"/>
          </a:xfrm>
          <a:prstGeom prst="ellipse">
            <a:avLst/>
          </a:prstGeom>
          <a:solidFill>
            <a:srgbClr val="1F3A68"/>
          </a:solidFill>
          <a:ln w="12700">
            <a:solidFill>
              <a:srgbClr val="1F3A68"/>
            </a:solidFill>
            <a:prstDash val="solid"/>
          </a:ln>
        </p:spPr>
      </p:sp>
      <p:sp>
        <p:nvSpPr>
          <p:cNvPr id="15" name="Text 13"/>
          <p:cNvSpPr txBox="1"/>
          <p:nvPr/>
        </p:nvSpPr>
        <p:spPr>
          <a:xfrm>
            <a:off x="548640" y="462686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O3</a:t>
            </a:r>
            <a:endParaRPr lang="en-US" sz="2000" dirty="0"/>
          </a:p>
        </p:txBody>
      </p:sp>
      <p:sp>
        <p:nvSpPr>
          <p:cNvPr id="16" name="Text 14"/>
          <p:cNvSpPr txBox="1"/>
          <p:nvPr/>
        </p:nvSpPr>
        <p:spPr>
          <a:xfrm>
            <a:off x="1371600" y="4626864"/>
            <a:ext cx="10271455" cy="566928"/>
          </a:xfrm>
          <a:prstGeom prst="rect">
            <a:avLst/>
          </a:prstGeom>
          <a:noFill/>
          <a:ln/>
        </p:spPr>
        <p:txBody>
          <a:bodyPr wrap="square" lIns="0" tIns="0" rIns="0" bIns="0" rtlCol="0" anchor="ctr"/>
          <a:lstStyle/>
          <a:p>
            <a:pPr indent="0" marL="0">
              <a:buNone/>
            </a:pPr>
            <a:r>
              <a:rPr lang="en-US" sz="2000" dirty="0">
                <a:solidFill>
                  <a:srgbClr val="1A1A1A"/>
                </a:solidFill>
                <a:latin typeface="Calibri" pitchFamily="34" charset="0"/>
                <a:ea typeface="Calibri" pitchFamily="34" charset="-122"/>
                <a:cs typeface="Calibri" pitchFamily="34" charset="-120"/>
              </a:rPr>
              <a:t>Measure errors in rupees (Rupee Error Rate) and check how well WER predicts them</a:t>
            </a:r>
            <a:endParaRPr lang="en-US" sz="2000" dirty="0"/>
          </a:p>
        </p:txBody>
      </p:sp>
      <p:sp>
        <p:nvSpPr>
          <p:cNvPr id="17" name="Shape 15"/>
          <p:cNvSpPr/>
          <p:nvPr/>
        </p:nvSpPr>
        <p:spPr>
          <a:xfrm>
            <a:off x="548640" y="5431536"/>
            <a:ext cx="566928" cy="566928"/>
          </a:xfrm>
          <a:prstGeom prst="ellipse">
            <a:avLst/>
          </a:prstGeom>
          <a:solidFill>
            <a:srgbClr val="1F3A68"/>
          </a:solidFill>
          <a:ln w="12700">
            <a:solidFill>
              <a:srgbClr val="1F3A68"/>
            </a:solidFill>
            <a:prstDash val="solid"/>
          </a:ln>
        </p:spPr>
      </p:sp>
      <p:sp>
        <p:nvSpPr>
          <p:cNvPr id="18" name="Text 16"/>
          <p:cNvSpPr txBox="1"/>
          <p:nvPr/>
        </p:nvSpPr>
        <p:spPr>
          <a:xfrm>
            <a:off x="548640" y="5431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O4</a:t>
            </a:r>
            <a:endParaRPr lang="en-US" sz="2000" dirty="0"/>
          </a:p>
        </p:txBody>
      </p:sp>
      <p:sp>
        <p:nvSpPr>
          <p:cNvPr id="19" name="Text 17"/>
          <p:cNvSpPr txBox="1"/>
          <p:nvPr/>
        </p:nvSpPr>
        <p:spPr>
          <a:xfrm>
            <a:off x="1371600" y="5431536"/>
            <a:ext cx="10271455" cy="566928"/>
          </a:xfrm>
          <a:prstGeom prst="rect">
            <a:avLst/>
          </a:prstGeom>
          <a:noFill/>
          <a:ln/>
        </p:spPr>
        <p:txBody>
          <a:bodyPr wrap="square" lIns="0" tIns="0" rIns="0" bIns="0" rtlCol="0" anchor="ctr"/>
          <a:lstStyle/>
          <a:p>
            <a:pPr indent="0" marL="0">
              <a:buNone/>
            </a:pPr>
            <a:r>
              <a:rPr lang="en-US" sz="2000" dirty="0">
                <a:solidFill>
                  <a:srgbClr val="1A1A1A"/>
                </a:solidFill>
                <a:latin typeface="Calibri" pitchFamily="34" charset="0"/>
                <a:ea typeface="Calibri" pitchFamily="34" charset="-122"/>
                <a:cs typeface="Calibri" pitchFamily="34" charset="-120"/>
              </a:rPr>
              <a:t>Compare voice with typing: time per entry and SUS usability score (10 people)</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1F3A68"/>
                </a:solidFill>
                <a:latin typeface="Calibri" pitchFamily="34" charset="0"/>
                <a:ea typeface="Calibri" pitchFamily="34" charset="-122"/>
                <a:cs typeface="Calibri" pitchFamily="34" charset="-120"/>
              </a:rPr>
              <a:t>OUR STUDY</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Proposed methodology: how voice entry works</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F6368"/>
                </a:solidFill>
                <a:latin typeface="Calibri" pitchFamily="34" charset="0"/>
                <a:ea typeface="Calibri" pitchFamily="34" charset="-122"/>
                <a:cs typeface="Calibri" pitchFamily="34" charset="-120"/>
              </a:rPr>
              <a:t>8 / 16</a:t>
            </a:r>
            <a:endParaRPr lang="en-US" sz="1200" dirty="0"/>
          </a:p>
        </p:txBody>
      </p:sp>
      <p:sp>
        <p:nvSpPr>
          <p:cNvPr id="6" name="Shape 4"/>
          <p:cNvSpPr/>
          <p:nvPr/>
        </p:nvSpPr>
        <p:spPr>
          <a:xfrm>
            <a:off x="1661008" y="1371600"/>
            <a:ext cx="8869680" cy="4269932"/>
          </a:xfrm>
          <a:prstGeom prst="roundRect">
            <a:avLst>
              <a:gd name="adj" fmla="val 2570"/>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pic>
        <p:nvPicPr>
          <p:cNvPr id="7" name="Image 0" descr="C:\Users\Shubhan\OneDrive\Desktop\capstone\docs\research\figures\p2_pipeline.png">    </p:cNvPr>
          <p:cNvPicPr>
            <a:picLocks noChangeAspect="1"/>
          </p:cNvPicPr>
          <p:nvPr/>
        </p:nvPicPr>
        <p:blipFill>
          <a:blip r:embed="rId1"/>
          <a:stretch>
            <a:fillRect/>
          </a:stretch>
        </p:blipFill>
        <p:spPr>
          <a:xfrm>
            <a:off x="1843888" y="1463040"/>
            <a:ext cx="8503920" cy="4087052"/>
          </a:xfrm>
          <a:prstGeom prst="rect">
            <a:avLst/>
          </a:prstGeom>
        </p:spPr>
      </p:pic>
      <p:sp>
        <p:nvSpPr>
          <p:cNvPr id="8" name="Text 5"/>
          <p:cNvSpPr txBox="1"/>
          <p:nvPr/>
        </p:nvSpPr>
        <p:spPr>
          <a:xfrm>
            <a:off x="548640" y="5760720"/>
            <a:ext cx="11094415" cy="411480"/>
          </a:xfrm>
          <a:prstGeom prst="rect">
            <a:avLst/>
          </a:prstGeom>
          <a:noFill/>
          <a:ln/>
        </p:spPr>
        <p:txBody>
          <a:bodyPr wrap="square" lIns="0" tIns="0" rIns="0" bIns="0" rtlCol="0" anchor="t"/>
          <a:lstStyle/>
          <a:p>
            <a:pPr algn="ctr" indent="0" marL="0">
              <a:buNone/>
            </a:pPr>
            <a:r>
              <a:rPr lang="en-US" sz="1800" i="1" dirty="0">
                <a:solidFill>
                  <a:srgbClr val="5F6368"/>
                </a:solidFill>
                <a:latin typeface="Calibri" pitchFamily="34" charset="0"/>
                <a:ea typeface="Calibri" pitchFamily="34" charset="-122"/>
                <a:cs typeface="Calibri" pitchFamily="34" charset="-120"/>
              </a:rPr>
              <a:t>Example: “Sunanda tai ne saade teen hazaar jama kele” → Sunanda Patil · ₹3,500 · Repayment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1F3A68"/>
                </a:solidFill>
                <a:latin typeface="Calibri" pitchFamily="34" charset="0"/>
                <a:ea typeface="Calibri" pitchFamily="34" charset="-122"/>
                <a:cs typeface="Calibri" pitchFamily="34" charset="-120"/>
              </a:rPr>
              <a:t>OUR STUDY</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Conceptual framework: what we change, what we measure</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F6368"/>
                </a:solidFill>
                <a:latin typeface="Calibri" pitchFamily="34" charset="0"/>
                <a:ea typeface="Calibri" pitchFamily="34" charset="-122"/>
                <a:cs typeface="Calibri" pitchFamily="34" charset="-120"/>
              </a:rPr>
              <a:t>9 / 16</a:t>
            </a:r>
            <a:endParaRPr lang="en-US" sz="1200" dirty="0"/>
          </a:p>
        </p:txBody>
      </p:sp>
      <p:sp>
        <p:nvSpPr>
          <p:cNvPr id="6" name="Shape 4"/>
          <p:cNvSpPr/>
          <p:nvPr/>
        </p:nvSpPr>
        <p:spPr>
          <a:xfrm>
            <a:off x="548640" y="1600200"/>
            <a:ext cx="4480560" cy="2331720"/>
          </a:xfrm>
          <a:prstGeom prst="roundRect">
            <a:avLst>
              <a:gd name="adj" fmla="val 4706"/>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7" name="Text 5"/>
          <p:cNvSpPr txBox="1"/>
          <p:nvPr/>
        </p:nvSpPr>
        <p:spPr>
          <a:xfrm>
            <a:off x="822960" y="1764792"/>
            <a:ext cx="3931920" cy="411480"/>
          </a:xfrm>
          <a:prstGeom prst="rect">
            <a:avLst/>
          </a:prstGeom>
          <a:noFill/>
          <a:ln/>
        </p:spPr>
        <p:txBody>
          <a:bodyPr wrap="square" lIns="0" tIns="0" rIns="0" bIns="0" rtlCol="0" anchor="t"/>
          <a:lstStyle/>
          <a:p>
            <a:pPr indent="0" marL="0">
              <a:buNone/>
            </a:pPr>
            <a:r>
              <a:rPr lang="en-US" sz="2200" b="1" dirty="0">
                <a:solidFill>
                  <a:srgbClr val="1F3A68"/>
                </a:solidFill>
                <a:latin typeface="Calibri" pitchFamily="34" charset="0"/>
                <a:ea typeface="Calibri" pitchFamily="34" charset="-122"/>
                <a:cs typeface="Calibri" pitchFamily="34" charset="-120"/>
              </a:rPr>
              <a:t>Speech setup (independent)</a:t>
            </a:r>
            <a:endParaRPr lang="en-US" sz="2200" dirty="0"/>
          </a:p>
        </p:txBody>
      </p:sp>
      <p:sp>
        <p:nvSpPr>
          <p:cNvPr id="8" name="Text 6"/>
          <p:cNvSpPr txBox="1"/>
          <p:nvPr/>
        </p:nvSpPr>
        <p:spPr>
          <a:xfrm>
            <a:off x="822960" y="2286000"/>
            <a:ext cx="3931920" cy="150876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Cloud service</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Offline Whisper, 8-bit</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Offline Whisper + name hint</a:t>
            </a:r>
            <a:endParaRPr lang="en-US" sz="2000" dirty="0"/>
          </a:p>
        </p:txBody>
      </p:sp>
      <p:sp>
        <p:nvSpPr>
          <p:cNvPr id="9" name="Shape 7"/>
          <p:cNvSpPr/>
          <p:nvPr/>
        </p:nvSpPr>
        <p:spPr>
          <a:xfrm>
            <a:off x="548640" y="4114800"/>
            <a:ext cx="4480560" cy="1325880"/>
          </a:xfrm>
          <a:prstGeom prst="roundRect">
            <a:avLst>
              <a:gd name="adj" fmla="val 8276"/>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10" name="Text 8"/>
          <p:cNvSpPr txBox="1"/>
          <p:nvPr/>
        </p:nvSpPr>
        <p:spPr>
          <a:xfrm>
            <a:off x="822960" y="4279392"/>
            <a:ext cx="3931920" cy="411480"/>
          </a:xfrm>
          <a:prstGeom prst="rect">
            <a:avLst/>
          </a:prstGeom>
          <a:noFill/>
          <a:ln/>
        </p:spPr>
        <p:txBody>
          <a:bodyPr wrap="square" lIns="0" tIns="0" rIns="0" bIns="0" rtlCol="0" anchor="t"/>
          <a:lstStyle/>
          <a:p>
            <a:pPr indent="0" marL="0">
              <a:buNone/>
            </a:pPr>
            <a:r>
              <a:rPr lang="en-US" sz="2200" b="1" dirty="0">
                <a:solidFill>
                  <a:srgbClr val="1F3A68"/>
                </a:solidFill>
                <a:latin typeface="Calibri" pitchFamily="34" charset="0"/>
                <a:ea typeface="Calibri" pitchFamily="34" charset="-122"/>
                <a:cs typeface="Calibri" pitchFamily="34" charset="-120"/>
              </a:rPr>
              <a:t>Input mode (independent)</a:t>
            </a:r>
            <a:endParaRPr lang="en-US" sz="2200" dirty="0"/>
          </a:p>
        </p:txBody>
      </p:sp>
      <p:sp>
        <p:nvSpPr>
          <p:cNvPr id="11" name="Text 9"/>
          <p:cNvSpPr txBox="1"/>
          <p:nvPr/>
        </p:nvSpPr>
        <p:spPr>
          <a:xfrm>
            <a:off x="822960" y="4800600"/>
            <a:ext cx="3931920" cy="50292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Voice vs typing</a:t>
            </a:r>
            <a:endParaRPr lang="en-US" sz="2000" dirty="0"/>
          </a:p>
        </p:txBody>
      </p:sp>
      <p:sp>
        <p:nvSpPr>
          <p:cNvPr id="12" name="Shape 10"/>
          <p:cNvSpPr/>
          <p:nvPr/>
        </p:nvSpPr>
        <p:spPr>
          <a:xfrm>
            <a:off x="7162495" y="1600200"/>
            <a:ext cx="4480560" cy="2331720"/>
          </a:xfrm>
          <a:prstGeom prst="roundRect">
            <a:avLst>
              <a:gd name="adj" fmla="val 4706"/>
            </a:avLst>
          </a:prstGeom>
          <a:solidFill>
            <a:srgbClr val="FDF3E1"/>
          </a:solidFill>
          <a:ln w="12700">
            <a:solidFill>
              <a:srgbClr val="FDF3E1"/>
            </a:solidFill>
            <a:prstDash val="solid"/>
          </a:ln>
          <a:effectLst>
            <a:outerShdw sx="100000" sy="100000" kx="0" ky="0" algn="bl" rotWithShape="0" blurRad="101600" dist="25400" dir="5400000">
              <a:srgbClr val="1F3A68">
                <a:alpha val="12000"/>
              </a:srgbClr>
            </a:outerShdw>
          </a:effectLst>
        </p:spPr>
      </p:sp>
      <p:sp>
        <p:nvSpPr>
          <p:cNvPr id="13" name="Text 11"/>
          <p:cNvSpPr txBox="1"/>
          <p:nvPr/>
        </p:nvSpPr>
        <p:spPr>
          <a:xfrm>
            <a:off x="7436815" y="1764792"/>
            <a:ext cx="3931920" cy="411480"/>
          </a:xfrm>
          <a:prstGeom prst="rect">
            <a:avLst/>
          </a:prstGeom>
          <a:noFill/>
          <a:ln/>
        </p:spPr>
        <p:txBody>
          <a:bodyPr wrap="square" lIns="0" tIns="0" rIns="0" bIns="0" rtlCol="0" anchor="t"/>
          <a:lstStyle/>
          <a:p>
            <a:pPr indent="0" marL="0">
              <a:buNone/>
            </a:pPr>
            <a:r>
              <a:rPr lang="en-US" sz="2200" b="1" dirty="0">
                <a:solidFill>
                  <a:srgbClr val="1F3A68"/>
                </a:solidFill>
                <a:latin typeface="Calibri" pitchFamily="34" charset="0"/>
                <a:ea typeface="Calibri" pitchFamily="34" charset="-122"/>
                <a:cs typeface="Calibri" pitchFamily="34" charset="-120"/>
              </a:rPr>
              <a:t>Accuracy and money (dependent)</a:t>
            </a:r>
            <a:endParaRPr lang="en-US" sz="2200" dirty="0"/>
          </a:p>
        </p:txBody>
      </p:sp>
      <p:sp>
        <p:nvSpPr>
          <p:cNvPr id="14" name="Text 12"/>
          <p:cNvSpPr txBox="1"/>
          <p:nvPr/>
        </p:nvSpPr>
        <p:spPr>
          <a:xfrm>
            <a:off x="7436815" y="2286000"/>
            <a:ext cx="3931920" cy="150876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Whole entry correct (%)</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Rupee Error Rate</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Time on phone (s)</a:t>
            </a:r>
            <a:endParaRPr lang="en-US" sz="2000" dirty="0"/>
          </a:p>
        </p:txBody>
      </p:sp>
      <p:sp>
        <p:nvSpPr>
          <p:cNvPr id="15" name="Shape 13"/>
          <p:cNvSpPr/>
          <p:nvPr/>
        </p:nvSpPr>
        <p:spPr>
          <a:xfrm>
            <a:off x="7162495" y="4114800"/>
            <a:ext cx="4480560" cy="1325880"/>
          </a:xfrm>
          <a:prstGeom prst="roundRect">
            <a:avLst>
              <a:gd name="adj" fmla="val 8276"/>
            </a:avLst>
          </a:prstGeom>
          <a:solidFill>
            <a:srgbClr val="FDF3E1"/>
          </a:solidFill>
          <a:ln w="12700">
            <a:solidFill>
              <a:srgbClr val="FDF3E1"/>
            </a:solidFill>
            <a:prstDash val="solid"/>
          </a:ln>
          <a:effectLst>
            <a:outerShdw sx="100000" sy="100000" kx="0" ky="0" algn="bl" rotWithShape="0" blurRad="101600" dist="25400" dir="5400000">
              <a:srgbClr val="1F3A68">
                <a:alpha val="12000"/>
              </a:srgbClr>
            </a:outerShdw>
          </a:effectLst>
        </p:spPr>
      </p:sp>
      <p:sp>
        <p:nvSpPr>
          <p:cNvPr id="16" name="Text 14"/>
          <p:cNvSpPr txBox="1"/>
          <p:nvPr/>
        </p:nvSpPr>
        <p:spPr>
          <a:xfrm>
            <a:off x="7436815" y="4279392"/>
            <a:ext cx="3931920" cy="411480"/>
          </a:xfrm>
          <a:prstGeom prst="rect">
            <a:avLst/>
          </a:prstGeom>
          <a:noFill/>
          <a:ln/>
        </p:spPr>
        <p:txBody>
          <a:bodyPr wrap="square" lIns="0" tIns="0" rIns="0" bIns="0" rtlCol="0" anchor="t"/>
          <a:lstStyle/>
          <a:p>
            <a:pPr indent="0" marL="0">
              <a:buNone/>
            </a:pPr>
            <a:r>
              <a:rPr lang="en-US" sz="2200" b="1" dirty="0">
                <a:solidFill>
                  <a:srgbClr val="1F3A68"/>
                </a:solidFill>
                <a:latin typeface="Calibri" pitchFamily="34" charset="0"/>
                <a:ea typeface="Calibri" pitchFamily="34" charset="-122"/>
                <a:cs typeface="Calibri" pitchFamily="34" charset="-120"/>
              </a:rPr>
              <a:t>Usability (dependent)</a:t>
            </a:r>
            <a:endParaRPr lang="en-US" sz="2200" dirty="0"/>
          </a:p>
        </p:txBody>
      </p:sp>
      <p:sp>
        <p:nvSpPr>
          <p:cNvPr id="17" name="Text 15"/>
          <p:cNvSpPr txBox="1"/>
          <p:nvPr/>
        </p:nvSpPr>
        <p:spPr>
          <a:xfrm>
            <a:off x="7436815" y="4800600"/>
            <a:ext cx="3931920" cy="50292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Time per entry, SUS score</a:t>
            </a:r>
            <a:endParaRPr lang="en-US" sz="2000" dirty="0"/>
          </a:p>
        </p:txBody>
      </p:sp>
      <p:sp>
        <p:nvSpPr>
          <p:cNvPr id="18" name="Shape 16"/>
          <p:cNvSpPr/>
          <p:nvPr/>
        </p:nvSpPr>
        <p:spPr>
          <a:xfrm>
            <a:off x="5212080" y="2606040"/>
            <a:ext cx="1767535" cy="411480"/>
          </a:xfrm>
          <a:prstGeom prst="rightArrow">
            <a:avLst/>
          </a:prstGeom>
          <a:solidFill>
            <a:srgbClr val="1F3A68"/>
          </a:solidFill>
          <a:ln w="12700">
            <a:solidFill>
              <a:srgbClr val="1F3A68"/>
            </a:solidFill>
            <a:prstDash val="solid"/>
          </a:ln>
        </p:spPr>
      </p:sp>
      <p:sp>
        <p:nvSpPr>
          <p:cNvPr id="19" name="Text 17"/>
          <p:cNvSpPr txBox="1"/>
          <p:nvPr/>
        </p:nvSpPr>
        <p:spPr>
          <a:xfrm>
            <a:off x="5212080" y="2103120"/>
            <a:ext cx="1767535" cy="411480"/>
          </a:xfrm>
          <a:prstGeom prst="rect">
            <a:avLst/>
          </a:prstGeom>
          <a:noFill/>
          <a:ln/>
        </p:spPr>
        <p:txBody>
          <a:bodyPr wrap="square" lIns="0" tIns="0" rIns="0" bIns="0" rtlCol="0" anchor="t"/>
          <a:lstStyle/>
          <a:p>
            <a:pPr algn="ctr" indent="0" marL="0">
              <a:buNone/>
            </a:pPr>
            <a:r>
              <a:rPr lang="en-US" sz="2000" b="1" dirty="0">
                <a:solidFill>
                  <a:srgbClr val="1A1A1A"/>
                </a:solidFill>
                <a:latin typeface="Calibri" pitchFamily="34" charset="0"/>
                <a:ea typeface="Calibri" pitchFamily="34" charset="-122"/>
                <a:cs typeface="Calibri" pitchFamily="34" charset="-120"/>
              </a:rPr>
              <a:t>H1, H2, H3</a:t>
            </a:r>
            <a:endParaRPr lang="en-US" sz="2000" dirty="0"/>
          </a:p>
        </p:txBody>
      </p:sp>
      <p:sp>
        <p:nvSpPr>
          <p:cNvPr id="20" name="Shape 18"/>
          <p:cNvSpPr/>
          <p:nvPr/>
        </p:nvSpPr>
        <p:spPr>
          <a:xfrm>
            <a:off x="5212080" y="4572000"/>
            <a:ext cx="1767535" cy="411480"/>
          </a:xfrm>
          <a:prstGeom prst="rightArrow">
            <a:avLst/>
          </a:prstGeom>
          <a:solidFill>
            <a:srgbClr val="1F3A68"/>
          </a:solidFill>
          <a:ln w="12700">
            <a:solidFill>
              <a:srgbClr val="1F3A68"/>
            </a:solidFill>
            <a:prstDash val="solid"/>
          </a:ln>
        </p:spPr>
      </p:sp>
      <p:sp>
        <p:nvSpPr>
          <p:cNvPr id="21" name="Text 19"/>
          <p:cNvSpPr txBox="1"/>
          <p:nvPr/>
        </p:nvSpPr>
        <p:spPr>
          <a:xfrm>
            <a:off x="5212080" y="4069080"/>
            <a:ext cx="1767535" cy="411480"/>
          </a:xfrm>
          <a:prstGeom prst="rect">
            <a:avLst/>
          </a:prstGeom>
          <a:noFill/>
          <a:ln/>
        </p:spPr>
        <p:txBody>
          <a:bodyPr wrap="square" lIns="0" tIns="0" rIns="0" bIns="0" rtlCol="0" anchor="t"/>
          <a:lstStyle/>
          <a:p>
            <a:pPr algn="ctr" indent="0" marL="0">
              <a:buNone/>
            </a:pPr>
            <a:r>
              <a:rPr lang="en-US" sz="2000" b="1" dirty="0">
                <a:solidFill>
                  <a:srgbClr val="1A1A1A"/>
                </a:solidFill>
                <a:latin typeface="Calibri" pitchFamily="34" charset="0"/>
                <a:ea typeface="Calibri" pitchFamily="34" charset="-122"/>
                <a:cs typeface="Calibri" pitchFamily="34" charset="-120"/>
              </a:rPr>
              <a:t>H4</a:t>
            </a:r>
            <a:endParaRPr lang="en-US" sz="2000" dirty="0"/>
          </a:p>
        </p:txBody>
      </p:sp>
      <p:sp>
        <p:nvSpPr>
          <p:cNvPr id="22" name="Text 20"/>
          <p:cNvSpPr txBox="1"/>
          <p:nvPr/>
        </p:nvSpPr>
        <p:spPr>
          <a:xfrm>
            <a:off x="548640" y="5669280"/>
            <a:ext cx="11094415" cy="457200"/>
          </a:xfrm>
          <a:prstGeom prst="rect">
            <a:avLst/>
          </a:prstGeom>
          <a:noFill/>
          <a:ln/>
        </p:spPr>
        <p:txBody>
          <a:bodyPr wrap="square" lIns="0" tIns="0" rIns="0" bIns="0" rtlCol="0" anchor="t"/>
          <a:lstStyle/>
          <a:p>
            <a:pPr algn="ctr" indent="0" marL="0">
              <a:buNone/>
            </a:pPr>
            <a:r>
              <a:rPr lang="en-US" sz="1800" dirty="0">
                <a:solidFill>
                  <a:srgbClr val="5F6368"/>
                </a:solidFill>
                <a:latin typeface="Calibri" pitchFamily="34" charset="0"/>
                <a:ea typeface="Calibri" pitchFamily="34" charset="-122"/>
                <a:cs typeface="Calibri" pitchFamily="34" charset="-120"/>
              </a:rPr>
              <a:t>May change the results: language (Hindi / Marathi / English / mixed) and quiet room vs shop noise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1F3A68"/>
                </a:solidFill>
                <a:latin typeface="Calibri" pitchFamily="34" charset="0"/>
                <a:ea typeface="Calibri" pitchFamily="34" charset="-122"/>
                <a:cs typeface="Calibri" pitchFamily="34" charset="-120"/>
              </a:rPr>
              <a:t>OUR STUDY</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Proposed methodology: experiment design</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F6368"/>
                </a:solidFill>
                <a:latin typeface="Calibri" pitchFamily="34" charset="0"/>
                <a:ea typeface="Calibri" pitchFamily="34" charset="-122"/>
                <a:cs typeface="Calibri" pitchFamily="34" charset="-120"/>
              </a:rPr>
              <a:t>10 / 16</a:t>
            </a:r>
            <a:endParaRPr lang="en-US" sz="1200" dirty="0"/>
          </a:p>
        </p:txBody>
      </p:sp>
      <p:sp>
        <p:nvSpPr>
          <p:cNvPr id="6" name="Shape 4"/>
          <p:cNvSpPr/>
          <p:nvPr/>
        </p:nvSpPr>
        <p:spPr>
          <a:xfrm>
            <a:off x="548640" y="1600200"/>
            <a:ext cx="3515258" cy="3017520"/>
          </a:xfrm>
          <a:prstGeom prst="roundRect">
            <a:avLst>
              <a:gd name="adj" fmla="val 3636"/>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7" name="Text 5"/>
          <p:cNvSpPr txBox="1"/>
          <p:nvPr/>
        </p:nvSpPr>
        <p:spPr>
          <a:xfrm>
            <a:off x="822960" y="1737360"/>
            <a:ext cx="2966618" cy="731520"/>
          </a:xfrm>
          <a:prstGeom prst="rect">
            <a:avLst/>
          </a:prstGeom>
          <a:noFill/>
          <a:ln/>
        </p:spPr>
        <p:txBody>
          <a:bodyPr wrap="square" lIns="0" tIns="0" rIns="0" bIns="0" rtlCol="0" anchor="t"/>
          <a:lstStyle/>
          <a:p>
            <a:pPr indent="0" marL="0">
              <a:buNone/>
            </a:pPr>
            <a:r>
              <a:rPr lang="en-US" sz="4000" b="1" dirty="0">
                <a:solidFill>
                  <a:srgbClr val="1F3A68"/>
                </a:solidFill>
                <a:latin typeface="Calibri" pitchFamily="34" charset="0"/>
                <a:ea typeface="Calibri" pitchFamily="34" charset="-122"/>
                <a:cs typeface="Calibri" pitchFamily="34" charset="-120"/>
              </a:rPr>
              <a:t>360</a:t>
            </a:r>
            <a:endParaRPr lang="en-US" sz="4000" dirty="0"/>
          </a:p>
        </p:txBody>
      </p:sp>
      <p:sp>
        <p:nvSpPr>
          <p:cNvPr id="8" name="Text 6"/>
          <p:cNvSpPr txBox="1"/>
          <p:nvPr/>
        </p:nvSpPr>
        <p:spPr>
          <a:xfrm>
            <a:off x="822960" y="2468880"/>
            <a:ext cx="2966618" cy="365760"/>
          </a:xfrm>
          <a:prstGeom prst="rect">
            <a:avLst/>
          </a:prstGeom>
          <a:noFill/>
          <a:ln/>
        </p:spPr>
        <p:txBody>
          <a:bodyPr wrap="square" lIns="0" tIns="0" rIns="0" bIns="0" rtlCol="0" anchor="t"/>
          <a:lstStyle/>
          <a:p>
            <a:pPr indent="0" marL="0">
              <a:buNone/>
            </a:pPr>
            <a:r>
              <a:rPr lang="en-US" sz="1800" dirty="0">
                <a:solidFill>
                  <a:srgbClr val="5F6368"/>
                </a:solidFill>
                <a:latin typeface="Calibri" pitchFamily="34" charset="0"/>
                <a:ea typeface="Calibri" pitchFamily="34" charset="-122"/>
                <a:cs typeface="Calibri" pitchFamily="34" charset="-120"/>
              </a:rPr>
              <a:t>voice clips</a:t>
            </a:r>
            <a:endParaRPr lang="en-US" sz="1800" dirty="0"/>
          </a:p>
        </p:txBody>
      </p:sp>
      <p:sp>
        <p:nvSpPr>
          <p:cNvPr id="9" name="Text 7"/>
          <p:cNvSpPr txBox="1"/>
          <p:nvPr/>
        </p:nvSpPr>
        <p:spPr>
          <a:xfrm>
            <a:off x="822960" y="2880360"/>
            <a:ext cx="2966618" cy="411480"/>
          </a:xfrm>
          <a:prstGeom prst="rect">
            <a:avLst/>
          </a:prstGeom>
          <a:noFill/>
          <a:ln/>
        </p:spPr>
        <p:txBody>
          <a:bodyPr wrap="square" lIns="0" tIns="0" rIns="0" bIns="0" rtlCol="0" anchor="t"/>
          <a:lstStyle/>
          <a:p>
            <a:pPr indent="0" marL="0">
              <a:buNone/>
            </a:pPr>
            <a:r>
              <a:rPr lang="en-US" sz="2200" b="1" dirty="0">
                <a:solidFill>
                  <a:srgbClr val="1A1A1A"/>
                </a:solidFill>
                <a:latin typeface="Calibri" pitchFamily="34" charset="0"/>
                <a:ea typeface="Calibri" pitchFamily="34" charset="-122"/>
                <a:cs typeface="Calibri" pitchFamily="34" charset="-120"/>
              </a:rPr>
              <a:t>A. Test set</a:t>
            </a:r>
            <a:endParaRPr lang="en-US" sz="2200" dirty="0"/>
          </a:p>
        </p:txBody>
      </p:sp>
      <p:sp>
        <p:nvSpPr>
          <p:cNvPr id="10" name="Text 8"/>
          <p:cNvSpPr txBox="1"/>
          <p:nvPr/>
        </p:nvSpPr>
        <p:spPr>
          <a:xfrm>
            <a:off x="822960" y="3337560"/>
            <a:ext cx="2966618" cy="1234440"/>
          </a:xfrm>
          <a:prstGeom prst="rect">
            <a:avLst/>
          </a:prstGeom>
          <a:noFill/>
          <a:ln/>
        </p:spPr>
        <p:txBody>
          <a:bodyPr wrap="square" lIns="0" tIns="0" rIns="0" bIns="0" rtlCol="0" anchor="t"/>
          <a:lstStyle/>
          <a:p>
            <a:pPr indent="0" marL="0">
              <a:buNone/>
            </a:pPr>
            <a:r>
              <a:rPr lang="en-US" sz="1800" dirty="0">
                <a:solidFill>
                  <a:srgbClr val="1A1A1A"/>
                </a:solidFill>
                <a:latin typeface="Calibri" pitchFamily="34" charset="0"/>
                <a:ea typeface="Calibri" pitchFamily="34" charset="-122"/>
                <a:cs typeface="Calibri" pitchFamily="34" charset="-120"/>
              </a:rPr>
              <a:t>12 speakers × 30 commands: us, friends and 4 shopkeepers. Names are made up; we know every right answer.</a:t>
            </a:r>
            <a:endParaRPr lang="en-US" sz="1800" dirty="0"/>
          </a:p>
        </p:txBody>
      </p:sp>
      <p:sp>
        <p:nvSpPr>
          <p:cNvPr id="11" name="Shape 9"/>
          <p:cNvSpPr/>
          <p:nvPr/>
        </p:nvSpPr>
        <p:spPr>
          <a:xfrm>
            <a:off x="4338218" y="1600200"/>
            <a:ext cx="3515258" cy="3017520"/>
          </a:xfrm>
          <a:prstGeom prst="roundRect">
            <a:avLst>
              <a:gd name="adj" fmla="val 3636"/>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12" name="Text 10"/>
          <p:cNvSpPr txBox="1"/>
          <p:nvPr/>
        </p:nvSpPr>
        <p:spPr>
          <a:xfrm>
            <a:off x="4612538" y="1737360"/>
            <a:ext cx="2966618" cy="731520"/>
          </a:xfrm>
          <a:prstGeom prst="rect">
            <a:avLst/>
          </a:prstGeom>
          <a:noFill/>
          <a:ln/>
        </p:spPr>
        <p:txBody>
          <a:bodyPr wrap="square" lIns="0" tIns="0" rIns="0" bIns="0" rtlCol="0" anchor="t"/>
          <a:lstStyle/>
          <a:p>
            <a:pPr indent="0" marL="0">
              <a:buNone/>
            </a:pPr>
            <a:r>
              <a:rPr lang="en-US" sz="4000" b="1" dirty="0">
                <a:solidFill>
                  <a:srgbClr val="1F3A68"/>
                </a:solidFill>
                <a:latin typeface="Calibri" pitchFamily="34" charset="0"/>
                <a:ea typeface="Calibri" pitchFamily="34" charset="-122"/>
                <a:cs typeface="Calibri" pitchFamily="34" charset="-120"/>
              </a:rPr>
              <a:t>× 3</a:t>
            </a:r>
            <a:endParaRPr lang="en-US" sz="4000" dirty="0"/>
          </a:p>
        </p:txBody>
      </p:sp>
      <p:sp>
        <p:nvSpPr>
          <p:cNvPr id="13" name="Text 11"/>
          <p:cNvSpPr txBox="1"/>
          <p:nvPr/>
        </p:nvSpPr>
        <p:spPr>
          <a:xfrm>
            <a:off x="4612538" y="2468880"/>
            <a:ext cx="2966618" cy="365760"/>
          </a:xfrm>
          <a:prstGeom prst="rect">
            <a:avLst/>
          </a:prstGeom>
          <a:noFill/>
          <a:ln/>
        </p:spPr>
        <p:txBody>
          <a:bodyPr wrap="square" lIns="0" tIns="0" rIns="0" bIns="0" rtlCol="0" anchor="t"/>
          <a:lstStyle/>
          <a:p>
            <a:pPr indent="0" marL="0">
              <a:buNone/>
            </a:pPr>
            <a:r>
              <a:rPr lang="en-US" sz="1800" dirty="0">
                <a:solidFill>
                  <a:srgbClr val="5F6368"/>
                </a:solidFill>
                <a:latin typeface="Calibri" pitchFamily="34" charset="0"/>
                <a:ea typeface="Calibri" pitchFamily="34" charset="-122"/>
                <a:cs typeface="Calibri" pitchFamily="34" charset="-120"/>
              </a:rPr>
              <a:t>setups per clip</a:t>
            </a:r>
            <a:endParaRPr lang="en-US" sz="1800" dirty="0"/>
          </a:p>
        </p:txBody>
      </p:sp>
      <p:sp>
        <p:nvSpPr>
          <p:cNvPr id="14" name="Text 12"/>
          <p:cNvSpPr txBox="1"/>
          <p:nvPr/>
        </p:nvSpPr>
        <p:spPr>
          <a:xfrm>
            <a:off x="4612538" y="2880360"/>
            <a:ext cx="2966618" cy="411480"/>
          </a:xfrm>
          <a:prstGeom prst="rect">
            <a:avLst/>
          </a:prstGeom>
          <a:noFill/>
          <a:ln/>
        </p:spPr>
        <p:txBody>
          <a:bodyPr wrap="square" lIns="0" tIns="0" rIns="0" bIns="0" rtlCol="0" anchor="t"/>
          <a:lstStyle/>
          <a:p>
            <a:pPr indent="0" marL="0">
              <a:buNone/>
            </a:pPr>
            <a:r>
              <a:rPr lang="en-US" sz="2200" b="1" dirty="0">
                <a:solidFill>
                  <a:srgbClr val="1A1A1A"/>
                </a:solidFill>
                <a:latin typeface="Calibri" pitchFamily="34" charset="0"/>
                <a:ea typeface="Calibri" pitchFamily="34" charset="-122"/>
                <a:cs typeface="Calibri" pitchFamily="34" charset="-120"/>
              </a:rPr>
              <a:t>B. Accuracy test</a:t>
            </a:r>
            <a:endParaRPr lang="en-US" sz="2200" dirty="0"/>
          </a:p>
        </p:txBody>
      </p:sp>
      <p:sp>
        <p:nvSpPr>
          <p:cNvPr id="15" name="Text 13"/>
          <p:cNvSpPr txBox="1"/>
          <p:nvPr/>
        </p:nvSpPr>
        <p:spPr>
          <a:xfrm>
            <a:off x="4612538" y="3337560"/>
            <a:ext cx="2966618" cy="1234440"/>
          </a:xfrm>
          <a:prstGeom prst="rect">
            <a:avLst/>
          </a:prstGeom>
          <a:noFill/>
          <a:ln/>
        </p:spPr>
        <p:txBody>
          <a:bodyPr wrap="square" lIns="0" tIns="0" rIns="0" bIns="0" rtlCol="0" anchor="t"/>
          <a:lstStyle/>
          <a:p>
            <a:pPr indent="0" marL="0">
              <a:buNone/>
            </a:pPr>
            <a:r>
              <a:rPr lang="en-US" sz="1800" dirty="0">
                <a:solidFill>
                  <a:srgbClr val="1A1A1A"/>
                </a:solidFill>
                <a:latin typeface="Calibri" pitchFamily="34" charset="0"/>
                <a:ea typeface="Calibri" pitchFamily="34" charset="-122"/>
                <a:cs typeface="Calibri" pitchFamily="34" charset="-120"/>
              </a:rPr>
              <a:t>Every clip through cloud, offline and offline + hint. Same speech, fair comparison.</a:t>
            </a:r>
            <a:endParaRPr lang="en-US" sz="1800" dirty="0"/>
          </a:p>
        </p:txBody>
      </p:sp>
      <p:sp>
        <p:nvSpPr>
          <p:cNvPr id="16" name="Shape 14"/>
          <p:cNvSpPr/>
          <p:nvPr/>
        </p:nvSpPr>
        <p:spPr>
          <a:xfrm>
            <a:off x="8127797" y="1600200"/>
            <a:ext cx="3515258" cy="3017520"/>
          </a:xfrm>
          <a:prstGeom prst="roundRect">
            <a:avLst>
              <a:gd name="adj" fmla="val 3636"/>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17" name="Text 15"/>
          <p:cNvSpPr txBox="1"/>
          <p:nvPr/>
        </p:nvSpPr>
        <p:spPr>
          <a:xfrm>
            <a:off x="8402117" y="1737360"/>
            <a:ext cx="2966618" cy="731520"/>
          </a:xfrm>
          <a:prstGeom prst="rect">
            <a:avLst/>
          </a:prstGeom>
          <a:noFill/>
          <a:ln/>
        </p:spPr>
        <p:txBody>
          <a:bodyPr wrap="square" lIns="0" tIns="0" rIns="0" bIns="0" rtlCol="0" anchor="t"/>
          <a:lstStyle/>
          <a:p>
            <a:pPr indent="0" marL="0">
              <a:buNone/>
            </a:pPr>
            <a:r>
              <a:rPr lang="en-US" sz="4000" b="1" dirty="0">
                <a:solidFill>
                  <a:srgbClr val="1F3A68"/>
                </a:solidFill>
                <a:latin typeface="Calibri" pitchFamily="34" charset="0"/>
                <a:ea typeface="Calibri" pitchFamily="34" charset="-122"/>
                <a:cs typeface="Calibri" pitchFamily="34" charset="-120"/>
              </a:rPr>
              <a:t>10</a:t>
            </a:r>
            <a:endParaRPr lang="en-US" sz="4000" dirty="0"/>
          </a:p>
        </p:txBody>
      </p:sp>
      <p:sp>
        <p:nvSpPr>
          <p:cNvPr id="18" name="Text 16"/>
          <p:cNvSpPr txBox="1"/>
          <p:nvPr/>
        </p:nvSpPr>
        <p:spPr>
          <a:xfrm>
            <a:off x="8402117" y="2468880"/>
            <a:ext cx="2966618" cy="365760"/>
          </a:xfrm>
          <a:prstGeom prst="rect">
            <a:avLst/>
          </a:prstGeom>
          <a:noFill/>
          <a:ln/>
        </p:spPr>
        <p:txBody>
          <a:bodyPr wrap="square" lIns="0" tIns="0" rIns="0" bIns="0" rtlCol="0" anchor="t"/>
          <a:lstStyle/>
          <a:p>
            <a:pPr indent="0" marL="0">
              <a:buNone/>
            </a:pPr>
            <a:r>
              <a:rPr lang="en-US" sz="1800" dirty="0">
                <a:solidFill>
                  <a:srgbClr val="5F6368"/>
                </a:solidFill>
                <a:latin typeface="Calibri" pitchFamily="34" charset="0"/>
                <a:ea typeface="Calibri" pitchFamily="34" charset="-122"/>
                <a:cs typeface="Calibri" pitchFamily="34" charset="-120"/>
              </a:rPr>
              <a:t>people</a:t>
            </a:r>
            <a:endParaRPr lang="en-US" sz="1800" dirty="0"/>
          </a:p>
        </p:txBody>
      </p:sp>
      <p:sp>
        <p:nvSpPr>
          <p:cNvPr id="19" name="Text 17"/>
          <p:cNvSpPr txBox="1"/>
          <p:nvPr/>
        </p:nvSpPr>
        <p:spPr>
          <a:xfrm>
            <a:off x="8402117" y="2880360"/>
            <a:ext cx="2966618" cy="411480"/>
          </a:xfrm>
          <a:prstGeom prst="rect">
            <a:avLst/>
          </a:prstGeom>
          <a:noFill/>
          <a:ln/>
        </p:spPr>
        <p:txBody>
          <a:bodyPr wrap="square" lIns="0" tIns="0" rIns="0" bIns="0" rtlCol="0" anchor="t"/>
          <a:lstStyle/>
          <a:p>
            <a:pPr indent="0" marL="0">
              <a:buNone/>
            </a:pPr>
            <a:r>
              <a:rPr lang="en-US" sz="2200" b="1" dirty="0">
                <a:solidFill>
                  <a:srgbClr val="1A1A1A"/>
                </a:solidFill>
                <a:latin typeface="Calibri" pitchFamily="34" charset="0"/>
                <a:ea typeface="Calibri" pitchFamily="34" charset="-122"/>
                <a:cs typeface="Calibri" pitchFamily="34" charset="-120"/>
              </a:rPr>
              <a:t>C. Usability test</a:t>
            </a:r>
            <a:endParaRPr lang="en-US" sz="2200" dirty="0"/>
          </a:p>
        </p:txBody>
      </p:sp>
      <p:sp>
        <p:nvSpPr>
          <p:cNvPr id="20" name="Text 18"/>
          <p:cNvSpPr txBox="1"/>
          <p:nvPr/>
        </p:nvSpPr>
        <p:spPr>
          <a:xfrm>
            <a:off x="8402117" y="3337560"/>
            <a:ext cx="2966618" cy="1234440"/>
          </a:xfrm>
          <a:prstGeom prst="rect">
            <a:avLst/>
          </a:prstGeom>
          <a:noFill/>
          <a:ln/>
        </p:spPr>
        <p:txBody>
          <a:bodyPr wrap="square" lIns="0" tIns="0" rIns="0" bIns="0" rtlCol="0" anchor="t"/>
          <a:lstStyle/>
          <a:p>
            <a:pPr indent="0" marL="0">
              <a:buNone/>
            </a:pPr>
            <a:r>
              <a:rPr lang="en-US" sz="1800" dirty="0">
                <a:solidFill>
                  <a:srgbClr val="1A1A1A"/>
                </a:solidFill>
                <a:latin typeface="Calibri" pitchFamily="34" charset="0"/>
                <a:ea typeface="Calibri" pitchFamily="34" charset="-122"/>
                <a:cs typeface="Calibri" pitchFamily="34" charset="-120"/>
              </a:rPr>
              <a:t>5 entries by voice, 5 by typing, half start with each. Timed, then a SUS form.</a:t>
            </a:r>
            <a:endParaRPr lang="en-US" sz="1800" dirty="0"/>
          </a:p>
        </p:txBody>
      </p:sp>
      <p:sp>
        <p:nvSpPr>
          <p:cNvPr id="21" name="Text 19"/>
          <p:cNvSpPr txBox="1"/>
          <p:nvPr/>
        </p:nvSpPr>
        <p:spPr>
          <a:xfrm>
            <a:off x="548640" y="4846320"/>
            <a:ext cx="7315200" cy="411480"/>
          </a:xfrm>
          <a:prstGeom prst="rect">
            <a:avLst/>
          </a:prstGeom>
          <a:noFill/>
          <a:ln/>
        </p:spPr>
        <p:txBody>
          <a:bodyPr wrap="square" lIns="0" tIns="0" rIns="0" bIns="0" rtlCol="0" anchor="t"/>
          <a:lstStyle/>
          <a:p>
            <a:pPr indent="0" marL="0">
              <a:buNone/>
            </a:pPr>
            <a:r>
              <a:rPr lang="en-US" sz="2200" b="1" dirty="0">
                <a:solidFill>
                  <a:srgbClr val="1F3A68"/>
                </a:solidFill>
                <a:latin typeface="Calibri" pitchFamily="34" charset="0"/>
                <a:ea typeface="Calibri" pitchFamily="34" charset="-122"/>
                <a:cs typeface="Calibri" pitchFamily="34" charset="-120"/>
              </a:rPr>
              <a:t>Why these sizes are enough</a:t>
            </a:r>
            <a:endParaRPr lang="en-US" sz="2200" dirty="0"/>
          </a:p>
        </p:txBody>
      </p:sp>
      <p:sp>
        <p:nvSpPr>
          <p:cNvPr id="22" name="Text 20"/>
          <p:cNvSpPr txBox="1"/>
          <p:nvPr/>
        </p:nvSpPr>
        <p:spPr>
          <a:xfrm>
            <a:off x="548640" y="5303520"/>
            <a:ext cx="11094415" cy="100584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360 paired clips: 80% power to catch a 5–6 point accuracy gap between setups</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10 people, each using both methods: 80% power to catch a large speed difference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5223D"/>
        </a:solidFill>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22345C">
              <a:alpha val="70000"/>
            </a:srgbClr>
          </a:solidFill>
          <a:ln w="12700">
            <a:solidFill>
              <a:srgbClr val="22345C">
                <a:alpha val="0"/>
              </a:srgbClr>
            </a:solidFill>
            <a:prstDash val="solid"/>
          </a:ln>
        </p:spPr>
      </p:sp>
      <p:sp>
        <p:nvSpPr>
          <p:cNvPr id="3" name="Shape 1"/>
          <p:cNvSpPr/>
          <p:nvPr/>
        </p:nvSpPr>
        <p:spPr>
          <a:xfrm>
            <a:off x="10972800" y="5120640"/>
            <a:ext cx="2194560" cy="2194560"/>
          </a:xfrm>
          <a:prstGeom prst="ellipse">
            <a:avLst/>
          </a:prstGeom>
          <a:solidFill>
            <a:srgbClr val="E8A33D">
              <a:alpha val="55000"/>
            </a:srgbClr>
          </a:solidFill>
          <a:ln w="12700">
            <a:solidFill>
              <a:srgbClr val="E8A33D">
                <a:alpha val="0"/>
              </a:srgbClr>
            </a:solidFill>
            <a:prstDash val="solid"/>
          </a:ln>
        </p:spPr>
      </p:sp>
      <p:sp>
        <p:nvSpPr>
          <p:cNvPr id="4" name="Text 2"/>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KEY IDEA</a:t>
            </a:r>
            <a:endParaRPr lang="en-US" sz="1300" dirty="0"/>
          </a:p>
        </p:txBody>
      </p:sp>
      <p:sp>
        <p:nvSpPr>
          <p:cNvPr id="5" name="Text 3"/>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Our key idea: the Rupee Error Rate</a:t>
            </a:r>
            <a:endParaRPr lang="en-US" sz="3400" dirty="0"/>
          </a:p>
        </p:txBody>
      </p:sp>
      <p:sp>
        <p:nvSpPr>
          <p:cNvPr id="6" name="Text 4"/>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C9D3E6"/>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7" name="Text 5"/>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C9D3E6"/>
                </a:solidFill>
                <a:latin typeface="Calibri" pitchFamily="34" charset="0"/>
                <a:ea typeface="Calibri" pitchFamily="34" charset="-122"/>
                <a:cs typeface="Calibri" pitchFamily="34" charset="-120"/>
              </a:rPr>
              <a:t>11 / 16</a:t>
            </a:r>
            <a:endParaRPr lang="en-US" sz="1200" dirty="0"/>
          </a:p>
        </p:txBody>
      </p:sp>
      <p:sp>
        <p:nvSpPr>
          <p:cNvPr id="8" name="Text 6"/>
          <p:cNvSpPr txBox="1"/>
          <p:nvPr/>
        </p:nvSpPr>
        <p:spPr>
          <a:xfrm>
            <a:off x="548640" y="1554480"/>
            <a:ext cx="6583680" cy="731520"/>
          </a:xfrm>
          <a:prstGeom prst="rect">
            <a:avLst/>
          </a:prstGeom>
          <a:noFill/>
          <a:ln/>
        </p:spPr>
        <p:txBody>
          <a:bodyPr wrap="square" lIns="0" tIns="0" rIns="0" bIns="0" rtlCol="0" anchor="t"/>
          <a:lstStyle/>
          <a:p>
            <a:pPr indent="0" marL="0">
              <a:buNone/>
            </a:pPr>
            <a:r>
              <a:rPr lang="en-US" sz="1800" dirty="0">
                <a:solidFill>
                  <a:srgbClr val="C9D3E6"/>
                </a:solidFill>
                <a:latin typeface="Calibri" pitchFamily="34" charset="0"/>
                <a:ea typeface="Calibri" pitchFamily="34" charset="-122"/>
                <a:cs typeface="Calibri" pitchFamily="34" charset="-120"/>
              </a:rPr>
              <a:t>Spoken: “Ramesh ko 250 udhaar”. Each output has 1 of 4 words wrong (WER 25%)</a:t>
            </a:r>
            <a:endParaRPr lang="en-US" sz="1800" dirty="0"/>
          </a:p>
        </p:txBody>
      </p:sp>
      <p:graphicFrame>
        <p:nvGraphicFramePr>
          <p:cNvPr id="9" name="Chart 0" descr=""/>
          <p:cNvGraphicFramePr/>
          <p:nvPr/>
        </p:nvGraphicFramePr>
        <p:xfrm>
          <a:off x="548640" y="2240280"/>
          <a:ext cx="6583680" cy="356616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7498080" y="1600200"/>
            <a:ext cx="4144975" cy="4297680"/>
          </a:xfrm>
          <a:prstGeom prst="roundRect">
            <a:avLst>
              <a:gd name="adj" fmla="val 2647"/>
            </a:avLst>
          </a:prstGeom>
          <a:solidFill>
            <a:srgbClr val="22345C"/>
          </a:solidFill>
          <a:ln w="12700">
            <a:solidFill>
              <a:srgbClr val="22345C"/>
            </a:solidFill>
            <a:prstDash val="solid"/>
          </a:ln>
        </p:spPr>
      </p:sp>
      <p:sp>
        <p:nvSpPr>
          <p:cNvPr id="11" name="Text 8"/>
          <p:cNvSpPr txBox="1"/>
          <p:nvPr/>
        </p:nvSpPr>
        <p:spPr>
          <a:xfrm>
            <a:off x="7772400" y="1783080"/>
            <a:ext cx="3596335" cy="457200"/>
          </a:xfrm>
          <a:prstGeom prst="rect">
            <a:avLst/>
          </a:prstGeom>
          <a:noFill/>
          <a:ln/>
        </p:spPr>
        <p:txBody>
          <a:bodyPr wrap="square" lIns="0" tIns="0" rIns="0" bIns="0" rtlCol="0" anchor="t"/>
          <a:lstStyle/>
          <a:p>
            <a:pPr indent="0" marL="0">
              <a:buNone/>
            </a:pPr>
            <a:r>
              <a:rPr lang="en-US" sz="2200" b="1" dirty="0">
                <a:solidFill>
                  <a:srgbClr val="E8A33D"/>
                </a:solidFill>
                <a:latin typeface="Calibri" pitchFamily="34" charset="0"/>
                <a:ea typeface="Calibri" pitchFamily="34" charset="-122"/>
                <a:cs typeface="Calibri" pitchFamily="34" charset="-120"/>
              </a:rPr>
              <a:t>Same WER, different damage</a:t>
            </a:r>
            <a:endParaRPr lang="en-US" sz="2200" dirty="0"/>
          </a:p>
        </p:txBody>
      </p:sp>
      <p:sp>
        <p:nvSpPr>
          <p:cNvPr id="12" name="Text 9"/>
          <p:cNvSpPr txBox="1"/>
          <p:nvPr/>
        </p:nvSpPr>
        <p:spPr>
          <a:xfrm>
            <a:off x="7772400" y="2377440"/>
            <a:ext cx="3596335" cy="173736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Wrong amount: the difference</a:t>
            </a:r>
            <a:endParaRPr lang="en-US" sz="2000" dirty="0"/>
          </a:p>
          <a:p>
            <a:pPr marL="228600" indent="-2286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Wrong customer: counts twice</a:t>
            </a:r>
            <a:endParaRPr lang="en-US" sz="2000" dirty="0"/>
          </a:p>
          <a:p>
            <a:pPr marL="228600" indent="-228600">
              <a:spcAft>
                <a:spcPts val="1000"/>
              </a:spcAft>
              <a:buSzPct val="100000"/>
              <a:buChar char="•"/>
            </a:pPr>
            <a:r>
              <a:rPr lang="en-US" sz="2000" dirty="0">
                <a:solidFill>
                  <a:srgbClr val="FFFFFF"/>
                </a:solidFill>
                <a:latin typeface="Calibri" pitchFamily="34" charset="0"/>
                <a:ea typeface="Calibri" pitchFamily="34" charset="-122"/>
                <a:cs typeface="Calibri" pitchFamily="34" charset="-120"/>
              </a:rPr>
              <a:t>Credit ↔ repayment swapped: twice the amount</a:t>
            </a:r>
            <a:endParaRPr lang="en-US" sz="2000" dirty="0"/>
          </a:p>
        </p:txBody>
      </p:sp>
      <p:sp>
        <p:nvSpPr>
          <p:cNvPr id="13" name="Text 10"/>
          <p:cNvSpPr txBox="1"/>
          <p:nvPr/>
        </p:nvSpPr>
        <p:spPr>
          <a:xfrm>
            <a:off x="7772400" y="4251960"/>
            <a:ext cx="3596335" cy="822960"/>
          </a:xfrm>
          <a:prstGeom prst="rect">
            <a:avLst/>
          </a:prstGeom>
          <a:noFill/>
          <a:ln/>
        </p:spPr>
        <p:txBody>
          <a:bodyPr wrap="square" lIns="0" tIns="0" rIns="0" bIns="0" rtlCol="0" anchor="t"/>
          <a:lstStyle/>
          <a:p>
            <a:pPr indent="0" marL="0">
              <a:buNone/>
            </a:pPr>
            <a:r>
              <a:rPr lang="en-US" sz="2200" b="1" dirty="0">
                <a:solidFill>
                  <a:srgbClr val="FFFFFF"/>
                </a:solidFill>
                <a:latin typeface="Calibri" pitchFamily="34" charset="0"/>
                <a:ea typeface="Calibri" pitchFamily="34" charset="-122"/>
                <a:cs typeface="Calibri" pitchFamily="34" charset="-120"/>
              </a:rPr>
              <a:t>RER = ₹ wrongly recorded per 100 entries</a:t>
            </a:r>
            <a:endParaRPr lang="en-US" sz="2200" dirty="0"/>
          </a:p>
        </p:txBody>
      </p:sp>
      <p:sp>
        <p:nvSpPr>
          <p:cNvPr id="14" name="Text 11"/>
          <p:cNvSpPr txBox="1"/>
          <p:nvPr/>
        </p:nvSpPr>
        <p:spPr>
          <a:xfrm>
            <a:off x="7772400" y="5120640"/>
            <a:ext cx="3596335" cy="685800"/>
          </a:xfrm>
          <a:prstGeom prst="rect">
            <a:avLst/>
          </a:prstGeom>
          <a:noFill/>
          <a:ln/>
        </p:spPr>
        <p:txBody>
          <a:bodyPr wrap="square" lIns="0" tIns="0" rIns="0" bIns="0" rtlCol="0" anchor="t"/>
          <a:lstStyle/>
          <a:p>
            <a:pPr indent="0" marL="0">
              <a:buNone/>
            </a:pPr>
            <a:r>
              <a:rPr lang="en-US" sz="1800" dirty="0">
                <a:solidFill>
                  <a:srgbClr val="C9D3E6"/>
                </a:solidFill>
                <a:latin typeface="Calibri" pitchFamily="34" charset="0"/>
                <a:ea typeface="Calibri" pitchFamily="34" charset="-122"/>
                <a:cs typeface="Calibri" pitchFamily="34" charset="-120"/>
              </a:rPr>
              <a:t>H3: WER is only a weak guide to money error (Spearman ρ &lt; 0.5)</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1F3A68"/>
                </a:solidFill>
                <a:latin typeface="Calibri" pitchFamily="34" charset="0"/>
                <a:ea typeface="Calibri" pitchFamily="34" charset="-122"/>
                <a:cs typeface="Calibri" pitchFamily="34" charset="-120"/>
              </a:rPr>
              <a:t>OUTCOMES</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Expected results (hypotheses, not results)</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F6368"/>
                </a:solidFill>
                <a:latin typeface="Calibri" pitchFamily="34" charset="0"/>
                <a:ea typeface="Calibri" pitchFamily="34" charset="-122"/>
                <a:cs typeface="Calibri" pitchFamily="34" charset="-120"/>
              </a:rPr>
              <a:t>12 / 16</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731520"/>
                <a:gridCol w="5394960"/>
                <a:gridCol w="1737360"/>
                <a:gridCol w="3227832"/>
              </a:tblGrid>
              <a:tr h="0">
                <a:tc>
                  <a:txBody>
                    <a:bodyPr/>
                    <a:lstStyle/>
                    <a:p>
                      <a:pPr indent="0" marL="0">
                        <a:buNone/>
                      </a:pP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What we expect</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Test</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We are wrong if…</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r>
              <a:tr h="0">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H1</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Cloud gets more whole entries right than offline, by a small gap</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McNemar</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no real difference</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0">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H2</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The customer-name hint improves name accuracy</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McNemar</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the hint does not help</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r>
              <a:tr h="0">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H3</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WER is only a weak guide to rupee error</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Spearman</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ρ is 0.5 or more</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r>
              <a:tr h="0">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H4</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Voice entry is faster than typing</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Wilcoxon</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indent="0" marL="0">
                        <a:buNone/>
                      </a:pPr>
                      <a:r>
                        <a:rPr lang="en-US" sz="1800" dirty="0">
                          <a:solidFill>
                            <a:srgbClr val="1A1A1A"/>
                          </a:solidFill>
                          <a:latin typeface="Calibri" pitchFamily="34" charset="0"/>
                          <a:ea typeface="Calibri" pitchFamily="34" charset="-122"/>
                          <a:cs typeface="Calibri" pitchFamily="34" charset="-120"/>
                        </a:rPr>
                        <a:t>typing is as fast or faster</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r>
            </a:tbl>
          </a:graphicData>
        </a:graphic>
      </p:graphicFrame>
      <p:sp>
        <p:nvSpPr>
          <p:cNvPr id="7" name="Text 4"/>
          <p:cNvSpPr txBox="1"/>
          <p:nvPr/>
        </p:nvSpPr>
        <p:spPr>
          <a:xfrm>
            <a:off x="548640" y="4114800"/>
            <a:ext cx="11094415" cy="1097280"/>
          </a:xfrm>
          <a:prstGeom prst="rect">
            <a:avLst/>
          </a:prstGeom>
          <a:noFill/>
          <a:ln/>
        </p:spPr>
        <p:txBody>
          <a:bodyPr wrap="square" lIns="0" tIns="0" rIns="0" bIns="0" rtlCol="0" anchor="t"/>
          <a:lstStyle/>
          <a:p>
            <a:pPr indent="0" marL="0">
              <a:buNone/>
            </a:pPr>
            <a:r>
              <a:rPr lang="en-US" sz="2000" dirty="0">
                <a:solidFill>
                  <a:srgbClr val="1A1A1A"/>
                </a:solidFill>
                <a:latin typeface="Calibri" pitchFamily="34" charset="0"/>
                <a:ea typeface="Calibri" pitchFamily="34" charset="-122"/>
                <a:cs typeface="Calibri" pitchFamily="34" charset="-120"/>
              </a:rPr>
              <a:t>Most errors are expected in names and number words like “dhai”, “saade”, “paune”. Final output: offline voice entry in SmartOps and a rupee-based accuracy report.</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1F3A68"/>
                </a:solidFill>
                <a:latin typeface="Calibri" pitchFamily="34" charset="0"/>
                <a:ea typeface="Calibri" pitchFamily="34" charset="-122"/>
                <a:cs typeface="Calibri" pitchFamily="34" charset="-120"/>
              </a:rPr>
              <a:t>OUTCOMES</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Novelty and IP potential</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F6368"/>
                </a:solidFill>
                <a:latin typeface="Calibri" pitchFamily="34" charset="0"/>
                <a:ea typeface="Calibri" pitchFamily="34" charset="-122"/>
                <a:cs typeface="Calibri" pitchFamily="34" charset="-120"/>
              </a:rPr>
              <a:t>13 / 16</a:t>
            </a:r>
            <a:endParaRPr lang="en-US" sz="1200" dirty="0"/>
          </a:p>
        </p:txBody>
      </p:sp>
      <p:sp>
        <p:nvSpPr>
          <p:cNvPr id="6" name="Shape 4"/>
          <p:cNvSpPr/>
          <p:nvPr/>
        </p:nvSpPr>
        <p:spPr>
          <a:xfrm>
            <a:off x="548640" y="1691640"/>
            <a:ext cx="3515258" cy="310896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7" name="Shape 5"/>
          <p:cNvSpPr/>
          <p:nvPr/>
        </p:nvSpPr>
        <p:spPr>
          <a:xfrm>
            <a:off x="822960" y="1920240"/>
            <a:ext cx="502920" cy="502920"/>
          </a:xfrm>
          <a:prstGeom prst="ellipse">
            <a:avLst/>
          </a:prstGeom>
          <a:solidFill>
            <a:srgbClr val="1F3A68"/>
          </a:solidFill>
          <a:ln w="12700">
            <a:solidFill>
              <a:srgbClr val="1F3A68"/>
            </a:solidFill>
            <a:prstDash val="solid"/>
          </a:ln>
        </p:spPr>
      </p:sp>
      <p:sp>
        <p:nvSpPr>
          <p:cNvPr id="8" name="Text 6"/>
          <p:cNvSpPr txBox="1"/>
          <p:nvPr/>
        </p:nvSpPr>
        <p:spPr>
          <a:xfrm>
            <a:off x="822960" y="19202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txBox="1"/>
          <p:nvPr/>
        </p:nvSpPr>
        <p:spPr>
          <a:xfrm>
            <a:off x="822960" y="2606040"/>
            <a:ext cx="2966618" cy="548640"/>
          </a:xfrm>
          <a:prstGeom prst="rect">
            <a:avLst/>
          </a:prstGeom>
          <a:noFill/>
          <a:ln/>
        </p:spPr>
        <p:txBody>
          <a:bodyPr wrap="square" lIns="0" tIns="0" rIns="0" bIns="0" rtlCol="0" anchor="t"/>
          <a:lstStyle/>
          <a:p>
            <a:pPr indent="0" marL="0">
              <a:buNone/>
            </a:pPr>
            <a:r>
              <a:rPr lang="en-US" sz="2400" b="1" dirty="0">
                <a:solidFill>
                  <a:srgbClr val="1A1A1A"/>
                </a:solidFill>
                <a:latin typeface="Calibri" pitchFamily="34" charset="0"/>
                <a:ea typeface="Calibri" pitchFamily="34" charset="-122"/>
                <a:cs typeface="Calibri" pitchFamily="34" charset="-120"/>
              </a:rPr>
              <a:t>Rupee Error Rate</a:t>
            </a:r>
            <a:endParaRPr lang="en-US" sz="2400" dirty="0"/>
          </a:p>
        </p:txBody>
      </p:sp>
      <p:sp>
        <p:nvSpPr>
          <p:cNvPr id="10" name="Text 8"/>
          <p:cNvSpPr txBox="1"/>
          <p:nvPr/>
        </p:nvSpPr>
        <p:spPr>
          <a:xfrm>
            <a:off x="822960" y="3200400"/>
            <a:ext cx="2966618" cy="1554480"/>
          </a:xfrm>
          <a:prstGeom prst="rect">
            <a:avLst/>
          </a:prstGeom>
          <a:noFill/>
          <a:ln/>
        </p:spPr>
        <p:txBody>
          <a:bodyPr wrap="square" lIns="0" tIns="0" rIns="0" bIns="0" rtlCol="0" anchor="t"/>
          <a:lstStyle/>
          <a:p>
            <a:pPr indent="0" marL="0">
              <a:buNone/>
            </a:pPr>
            <a:r>
              <a:rPr lang="en-US" sz="1900" dirty="0">
                <a:solidFill>
                  <a:srgbClr val="1A1A1A"/>
                </a:solidFill>
                <a:latin typeface="Calibri" pitchFamily="34" charset="0"/>
                <a:ea typeface="Calibri" pitchFamily="34" charset="-122"/>
                <a:cs typeface="Calibri" pitchFamily="34" charset="-120"/>
              </a:rPr>
              <a:t>Speech errors scored by the money they put in the wrong place, not by word count</a:t>
            </a:r>
            <a:endParaRPr lang="en-US" sz="1900" dirty="0"/>
          </a:p>
        </p:txBody>
      </p:sp>
      <p:sp>
        <p:nvSpPr>
          <p:cNvPr id="11" name="Shape 9"/>
          <p:cNvSpPr/>
          <p:nvPr/>
        </p:nvSpPr>
        <p:spPr>
          <a:xfrm>
            <a:off x="4338218" y="1691640"/>
            <a:ext cx="3515258" cy="310896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12" name="Shape 10"/>
          <p:cNvSpPr/>
          <p:nvPr/>
        </p:nvSpPr>
        <p:spPr>
          <a:xfrm>
            <a:off x="4612538" y="1920240"/>
            <a:ext cx="502920" cy="502920"/>
          </a:xfrm>
          <a:prstGeom prst="ellipse">
            <a:avLst/>
          </a:prstGeom>
          <a:solidFill>
            <a:srgbClr val="1F3A68"/>
          </a:solidFill>
          <a:ln w="12700">
            <a:solidFill>
              <a:srgbClr val="1F3A68"/>
            </a:solidFill>
            <a:prstDash val="solid"/>
          </a:ln>
        </p:spPr>
      </p:sp>
      <p:sp>
        <p:nvSpPr>
          <p:cNvPr id="13" name="Text 11"/>
          <p:cNvSpPr txBox="1"/>
          <p:nvPr/>
        </p:nvSpPr>
        <p:spPr>
          <a:xfrm>
            <a:off x="4612538" y="19202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txBox="1"/>
          <p:nvPr/>
        </p:nvSpPr>
        <p:spPr>
          <a:xfrm>
            <a:off x="4612538" y="2606040"/>
            <a:ext cx="2966618" cy="548640"/>
          </a:xfrm>
          <a:prstGeom prst="rect">
            <a:avLst/>
          </a:prstGeom>
          <a:noFill/>
          <a:ln/>
        </p:spPr>
        <p:txBody>
          <a:bodyPr wrap="square" lIns="0" tIns="0" rIns="0" bIns="0" rtlCol="0" anchor="t"/>
          <a:lstStyle/>
          <a:p>
            <a:pPr indent="0" marL="0">
              <a:buNone/>
            </a:pPr>
            <a:r>
              <a:rPr lang="en-US" sz="2400" b="1" dirty="0">
                <a:solidFill>
                  <a:srgbClr val="1A1A1A"/>
                </a:solidFill>
                <a:latin typeface="Calibri" pitchFamily="34" charset="0"/>
                <a:ea typeface="Calibri" pitchFamily="34" charset="-122"/>
                <a:cs typeface="Calibri" pitchFamily="34" charset="-120"/>
              </a:rPr>
              <a:t>Offline khata test</a:t>
            </a:r>
            <a:endParaRPr lang="en-US" sz="2400" dirty="0"/>
          </a:p>
        </p:txBody>
      </p:sp>
      <p:sp>
        <p:nvSpPr>
          <p:cNvPr id="15" name="Text 13"/>
          <p:cNvSpPr txBox="1"/>
          <p:nvPr/>
        </p:nvSpPr>
        <p:spPr>
          <a:xfrm>
            <a:off x="4612538" y="3200400"/>
            <a:ext cx="2966618" cy="1554480"/>
          </a:xfrm>
          <a:prstGeom prst="rect">
            <a:avLst/>
          </a:prstGeom>
          <a:noFill/>
          <a:ln/>
        </p:spPr>
        <p:txBody>
          <a:bodyPr wrap="square" lIns="0" tIns="0" rIns="0" bIns="0" rtlCol="0" anchor="t"/>
          <a:lstStyle/>
          <a:p>
            <a:pPr indent="0" marL="0">
              <a:buNone/>
            </a:pPr>
            <a:r>
              <a:rPr lang="en-US" sz="1900" dirty="0">
                <a:solidFill>
                  <a:srgbClr val="1A1A1A"/>
                </a:solidFill>
                <a:latin typeface="Calibri" pitchFamily="34" charset="0"/>
                <a:ea typeface="Calibri" pitchFamily="34" charset="-122"/>
                <a:cs typeface="Calibri" pitchFamily="34" charset="-120"/>
              </a:rPr>
              <a:t>First test of mixed Hindi–Marathi–English khata commands on a cheap phone, fully offline</a:t>
            </a:r>
            <a:endParaRPr lang="en-US" sz="1900" dirty="0"/>
          </a:p>
        </p:txBody>
      </p:sp>
      <p:sp>
        <p:nvSpPr>
          <p:cNvPr id="16" name="Shape 14"/>
          <p:cNvSpPr/>
          <p:nvPr/>
        </p:nvSpPr>
        <p:spPr>
          <a:xfrm>
            <a:off x="8127797" y="1691640"/>
            <a:ext cx="3515258" cy="3108960"/>
          </a:xfrm>
          <a:prstGeom prst="roundRect">
            <a:avLst>
              <a:gd name="adj" fmla="val 3529"/>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17" name="Shape 15"/>
          <p:cNvSpPr/>
          <p:nvPr/>
        </p:nvSpPr>
        <p:spPr>
          <a:xfrm>
            <a:off x="8402117" y="1920240"/>
            <a:ext cx="502920" cy="502920"/>
          </a:xfrm>
          <a:prstGeom prst="ellipse">
            <a:avLst/>
          </a:prstGeom>
          <a:solidFill>
            <a:srgbClr val="1F3A68"/>
          </a:solidFill>
          <a:ln w="12700">
            <a:solidFill>
              <a:srgbClr val="1F3A68"/>
            </a:solidFill>
            <a:prstDash val="solid"/>
          </a:ln>
        </p:spPr>
      </p:sp>
      <p:sp>
        <p:nvSpPr>
          <p:cNvPr id="18" name="Text 16"/>
          <p:cNvSpPr txBox="1"/>
          <p:nvPr/>
        </p:nvSpPr>
        <p:spPr>
          <a:xfrm>
            <a:off x="8402117" y="19202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txBox="1"/>
          <p:nvPr/>
        </p:nvSpPr>
        <p:spPr>
          <a:xfrm>
            <a:off x="8402117" y="2606040"/>
            <a:ext cx="2966618" cy="548640"/>
          </a:xfrm>
          <a:prstGeom prst="rect">
            <a:avLst/>
          </a:prstGeom>
          <a:noFill/>
          <a:ln/>
        </p:spPr>
        <p:txBody>
          <a:bodyPr wrap="square" lIns="0" tIns="0" rIns="0" bIns="0" rtlCol="0" anchor="t"/>
          <a:lstStyle/>
          <a:p>
            <a:pPr indent="0" marL="0">
              <a:buNone/>
            </a:pPr>
            <a:r>
              <a:rPr lang="en-US" sz="2400" b="1" dirty="0">
                <a:solidFill>
                  <a:srgbClr val="1A1A1A"/>
                </a:solidFill>
                <a:latin typeface="Calibri" pitchFamily="34" charset="0"/>
                <a:ea typeface="Calibri" pitchFamily="34" charset="-122"/>
                <a:cs typeface="Calibri" pitchFamily="34" charset="-120"/>
              </a:rPr>
              <a:t>Customer-name hint</a:t>
            </a:r>
            <a:endParaRPr lang="en-US" sz="2400" dirty="0"/>
          </a:p>
        </p:txBody>
      </p:sp>
      <p:sp>
        <p:nvSpPr>
          <p:cNvPr id="20" name="Text 18"/>
          <p:cNvSpPr txBox="1"/>
          <p:nvPr/>
        </p:nvSpPr>
        <p:spPr>
          <a:xfrm>
            <a:off x="8402117" y="3200400"/>
            <a:ext cx="2966618" cy="1554480"/>
          </a:xfrm>
          <a:prstGeom prst="rect">
            <a:avLst/>
          </a:prstGeom>
          <a:noFill/>
          <a:ln/>
        </p:spPr>
        <p:txBody>
          <a:bodyPr wrap="square" lIns="0" tIns="0" rIns="0" bIns="0" rtlCol="0" anchor="t"/>
          <a:lstStyle/>
          <a:p>
            <a:pPr indent="0" marL="0">
              <a:buNone/>
            </a:pPr>
            <a:r>
              <a:rPr lang="en-US" sz="1900" dirty="0">
                <a:solidFill>
                  <a:srgbClr val="1A1A1A"/>
                </a:solidFill>
                <a:latin typeface="Calibri" pitchFamily="34" charset="0"/>
                <a:ea typeface="Calibri" pitchFamily="34" charset="-122"/>
                <a:cs typeface="Calibri" pitchFamily="34" charset="-120"/>
              </a:rPr>
              <a:t>Using the shop's own customer list to help the model hear names correctly</a:t>
            </a:r>
            <a:endParaRPr lang="en-US" sz="1900" dirty="0"/>
          </a:p>
        </p:txBody>
      </p:sp>
      <p:sp>
        <p:nvSpPr>
          <p:cNvPr id="21" name="Shape 19"/>
          <p:cNvSpPr/>
          <p:nvPr/>
        </p:nvSpPr>
        <p:spPr>
          <a:xfrm>
            <a:off x="548640" y="5074920"/>
            <a:ext cx="11094415" cy="914400"/>
          </a:xfrm>
          <a:prstGeom prst="roundRect">
            <a:avLst>
              <a:gd name="adj" fmla="val 12000"/>
            </a:avLst>
          </a:prstGeom>
          <a:solidFill>
            <a:srgbClr val="FFFFFF"/>
          </a:solidFill>
          <a:ln w="31750">
            <a:solidFill>
              <a:srgbClr val="E8A33D"/>
            </a:solidFill>
            <a:prstDash val="solid"/>
          </a:ln>
        </p:spPr>
      </p:sp>
      <p:sp>
        <p:nvSpPr>
          <p:cNvPr id="22" name="Text 20"/>
          <p:cNvSpPr txBox="1"/>
          <p:nvPr/>
        </p:nvSpPr>
        <p:spPr>
          <a:xfrm>
            <a:off x="868680" y="5138928"/>
            <a:ext cx="10454335" cy="786384"/>
          </a:xfrm>
          <a:prstGeom prst="rect">
            <a:avLst/>
          </a:prstGeom>
          <a:noFill/>
          <a:ln/>
        </p:spPr>
        <p:txBody>
          <a:bodyPr wrap="square" lIns="0" tIns="0" rIns="0" bIns="0" rtlCol="0" anchor="ctr"/>
          <a:lstStyle/>
          <a:p>
            <a:pPr indent="0" marL="0">
              <a:buNone/>
            </a:pPr>
            <a:r>
              <a:rPr lang="en-US" sz="1900" dirty="0">
                <a:solidFill>
                  <a:srgbClr val="1A1A1A"/>
                </a:solidFill>
                <a:latin typeface="Calibri" pitchFamily="34" charset="0"/>
                <a:ea typeface="Calibri" pitchFamily="34" charset="-122"/>
                <a:cs typeface="Calibri" pitchFamily="34" charset="-120"/>
              </a:rPr>
              <a:t>IP potential: the Rupee Error Rate and the name hint may be protectable. We will check with the VESIT IP cell before any public release.</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1F3A68"/>
                </a:solidFill>
                <a:latin typeface="Calibri" pitchFamily="34" charset="0"/>
                <a:ea typeface="Calibri" pitchFamily="34" charset="-122"/>
                <a:cs typeface="Calibri" pitchFamily="34" charset="-120"/>
              </a:rPr>
              <a:t>OUTCOMES</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Work plan and budget</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F6368"/>
                </a:solidFill>
                <a:latin typeface="Calibri" pitchFamily="34" charset="0"/>
                <a:ea typeface="Calibri" pitchFamily="34" charset="-122"/>
                <a:cs typeface="Calibri" pitchFamily="34" charset="-120"/>
              </a:rPr>
              <a:t>14 / 16</a:t>
            </a:r>
            <a:endParaRPr lang="en-US" sz="1200" dirty="0"/>
          </a:p>
        </p:txBody>
      </p:sp>
      <p:sp>
        <p:nvSpPr>
          <p:cNvPr id="6" name="Shape 4"/>
          <p:cNvSpPr/>
          <p:nvPr/>
        </p:nvSpPr>
        <p:spPr>
          <a:xfrm>
            <a:off x="411480" y="1554480"/>
            <a:ext cx="8366760" cy="4247378"/>
          </a:xfrm>
          <a:prstGeom prst="roundRect">
            <a:avLst>
              <a:gd name="adj" fmla="val 2583"/>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pic>
        <p:nvPicPr>
          <p:cNvPr id="7" name="Image 0" descr="C:\Users\Shubhan\OneDrive\Desktop\capstone\docs\research\figures\p2_gantt_slide.png">    </p:cNvPr>
          <p:cNvPicPr>
            <a:picLocks noChangeAspect="1"/>
          </p:cNvPicPr>
          <p:nvPr/>
        </p:nvPicPr>
        <p:blipFill>
          <a:blip r:embed="rId1"/>
          <a:stretch>
            <a:fillRect/>
          </a:stretch>
        </p:blipFill>
        <p:spPr>
          <a:xfrm>
            <a:off x="502920" y="1645920"/>
            <a:ext cx="8183880" cy="4064498"/>
          </a:xfrm>
          <a:prstGeom prst="rect">
            <a:avLst/>
          </a:prstGeom>
        </p:spPr>
      </p:pic>
      <p:sp>
        <p:nvSpPr>
          <p:cNvPr id="8" name="Shape 5"/>
          <p:cNvSpPr/>
          <p:nvPr/>
        </p:nvSpPr>
        <p:spPr>
          <a:xfrm>
            <a:off x="8961120" y="1645920"/>
            <a:ext cx="2681935"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9" name="Text 6"/>
          <p:cNvSpPr txBox="1"/>
          <p:nvPr/>
        </p:nvSpPr>
        <p:spPr>
          <a:xfrm>
            <a:off x="9235440" y="1737360"/>
            <a:ext cx="2133295" cy="685800"/>
          </a:xfrm>
          <a:prstGeom prst="rect">
            <a:avLst/>
          </a:prstGeom>
          <a:noFill/>
          <a:ln/>
        </p:spPr>
        <p:txBody>
          <a:bodyPr wrap="square" lIns="0" tIns="0" rIns="0" bIns="0" rtlCol="0" anchor="t"/>
          <a:lstStyle/>
          <a:p>
            <a:pPr indent="0" marL="0">
              <a:buNone/>
            </a:pPr>
            <a:r>
              <a:rPr lang="en-US" sz="3600" b="1" dirty="0">
                <a:solidFill>
                  <a:srgbClr val="1F3A68"/>
                </a:solidFill>
                <a:latin typeface="Calibri" pitchFamily="34" charset="0"/>
                <a:ea typeface="Calibri" pitchFamily="34" charset="-122"/>
                <a:cs typeface="Calibri" pitchFamily="34" charset="-120"/>
              </a:rPr>
              <a:t>12</a:t>
            </a:r>
            <a:endParaRPr lang="en-US" sz="3600" dirty="0"/>
          </a:p>
        </p:txBody>
      </p:sp>
      <p:sp>
        <p:nvSpPr>
          <p:cNvPr id="10" name="Text 7"/>
          <p:cNvSpPr txBox="1"/>
          <p:nvPr/>
        </p:nvSpPr>
        <p:spPr>
          <a:xfrm>
            <a:off x="9235440" y="2423160"/>
            <a:ext cx="2133295" cy="411480"/>
          </a:xfrm>
          <a:prstGeom prst="rect">
            <a:avLst/>
          </a:prstGeom>
          <a:noFill/>
          <a:ln/>
        </p:spPr>
        <p:txBody>
          <a:bodyPr wrap="square" lIns="0" tIns="0" rIns="0" bIns="0" rtlCol="0" anchor="t"/>
          <a:lstStyle/>
          <a:p>
            <a:pPr indent="0" marL="0">
              <a:buNone/>
            </a:pPr>
            <a:r>
              <a:rPr lang="en-US" sz="1800" dirty="0">
                <a:solidFill>
                  <a:srgbClr val="5F6368"/>
                </a:solidFill>
                <a:latin typeface="Calibri" pitchFamily="34" charset="0"/>
                <a:ea typeface="Calibri" pitchFamily="34" charset="-122"/>
                <a:cs typeface="Calibri" pitchFamily="34" charset="-120"/>
              </a:rPr>
              <a:t>weeks, from approval</a:t>
            </a:r>
            <a:endParaRPr lang="en-US" sz="1800" dirty="0"/>
          </a:p>
        </p:txBody>
      </p:sp>
      <p:sp>
        <p:nvSpPr>
          <p:cNvPr id="11" name="Shape 8"/>
          <p:cNvSpPr/>
          <p:nvPr/>
        </p:nvSpPr>
        <p:spPr>
          <a:xfrm>
            <a:off x="8961120" y="3108960"/>
            <a:ext cx="2681935"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12" name="Text 9"/>
          <p:cNvSpPr txBox="1"/>
          <p:nvPr/>
        </p:nvSpPr>
        <p:spPr>
          <a:xfrm>
            <a:off x="9235440" y="3200400"/>
            <a:ext cx="2133295" cy="685800"/>
          </a:xfrm>
          <a:prstGeom prst="rect">
            <a:avLst/>
          </a:prstGeom>
          <a:noFill/>
          <a:ln/>
        </p:spPr>
        <p:txBody>
          <a:bodyPr wrap="square" lIns="0" tIns="0" rIns="0" bIns="0" rtlCol="0" anchor="t"/>
          <a:lstStyle/>
          <a:p>
            <a:pPr indent="0" marL="0">
              <a:buNone/>
            </a:pPr>
            <a:r>
              <a:rPr lang="en-US" sz="3600" b="1" dirty="0">
                <a:solidFill>
                  <a:srgbClr val="1F3A68"/>
                </a:solidFill>
                <a:latin typeface="Calibri" pitchFamily="34" charset="0"/>
                <a:ea typeface="Calibri" pitchFamily="34" charset="-122"/>
                <a:cs typeface="Calibri" pitchFamily="34" charset="-120"/>
              </a:rPr>
              <a:t>₹11,000</a:t>
            </a:r>
            <a:endParaRPr lang="en-US" sz="3600" dirty="0"/>
          </a:p>
        </p:txBody>
      </p:sp>
      <p:sp>
        <p:nvSpPr>
          <p:cNvPr id="13" name="Text 10"/>
          <p:cNvSpPr txBox="1"/>
          <p:nvPr/>
        </p:nvSpPr>
        <p:spPr>
          <a:xfrm>
            <a:off x="9235440" y="3886200"/>
            <a:ext cx="2133295" cy="411480"/>
          </a:xfrm>
          <a:prstGeom prst="rect">
            <a:avLst/>
          </a:prstGeom>
          <a:noFill/>
          <a:ln/>
        </p:spPr>
        <p:txBody>
          <a:bodyPr wrap="square" lIns="0" tIns="0" rIns="0" bIns="0" rtlCol="0" anchor="t"/>
          <a:lstStyle/>
          <a:p>
            <a:pPr indent="0" marL="0">
              <a:buNone/>
            </a:pPr>
            <a:r>
              <a:rPr lang="en-US" sz="1800" dirty="0">
                <a:solidFill>
                  <a:srgbClr val="5F6368"/>
                </a:solidFill>
                <a:latin typeface="Calibri" pitchFamily="34" charset="0"/>
                <a:ea typeface="Calibri" pitchFamily="34" charset="-122"/>
                <a:cs typeface="Calibri" pitchFamily="34" charset="-120"/>
              </a:rPr>
              <a:t>total budget</a:t>
            </a:r>
            <a:endParaRPr lang="en-US" sz="1800" dirty="0"/>
          </a:p>
        </p:txBody>
      </p:sp>
      <p:sp>
        <p:nvSpPr>
          <p:cNvPr id="14" name="Shape 11"/>
          <p:cNvSpPr/>
          <p:nvPr/>
        </p:nvSpPr>
        <p:spPr>
          <a:xfrm>
            <a:off x="8961120" y="4572000"/>
            <a:ext cx="2681935"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101600" dist="25400" dir="5400000">
              <a:srgbClr val="1F3A68">
                <a:alpha val="12000"/>
              </a:srgbClr>
            </a:outerShdw>
          </a:effectLst>
        </p:spPr>
      </p:sp>
      <p:sp>
        <p:nvSpPr>
          <p:cNvPr id="15" name="Text 12"/>
          <p:cNvSpPr txBox="1"/>
          <p:nvPr/>
        </p:nvSpPr>
        <p:spPr>
          <a:xfrm>
            <a:off x="9235440" y="4663440"/>
            <a:ext cx="2133295" cy="685800"/>
          </a:xfrm>
          <a:prstGeom prst="rect">
            <a:avLst/>
          </a:prstGeom>
          <a:noFill/>
          <a:ln/>
        </p:spPr>
        <p:txBody>
          <a:bodyPr wrap="square" lIns="0" tIns="0" rIns="0" bIns="0" rtlCol="0" anchor="t"/>
          <a:lstStyle/>
          <a:p>
            <a:pPr indent="0" marL="0">
              <a:buNone/>
            </a:pPr>
            <a:r>
              <a:rPr lang="en-US" sz="3600" b="1" dirty="0">
                <a:solidFill>
                  <a:srgbClr val="1F3A68"/>
                </a:solidFill>
                <a:latin typeface="Calibri" pitchFamily="34" charset="0"/>
                <a:ea typeface="Calibri" pitchFamily="34" charset="-122"/>
                <a:cs typeface="Calibri" pitchFamily="34" charset="-120"/>
              </a:rPr>
              <a:t>360</a:t>
            </a:r>
            <a:endParaRPr lang="en-US" sz="3600" dirty="0"/>
          </a:p>
        </p:txBody>
      </p:sp>
      <p:sp>
        <p:nvSpPr>
          <p:cNvPr id="16" name="Text 13"/>
          <p:cNvSpPr txBox="1"/>
          <p:nvPr/>
        </p:nvSpPr>
        <p:spPr>
          <a:xfrm>
            <a:off x="9235440" y="5349240"/>
            <a:ext cx="2133295" cy="411480"/>
          </a:xfrm>
          <a:prstGeom prst="rect">
            <a:avLst/>
          </a:prstGeom>
          <a:noFill/>
          <a:ln/>
        </p:spPr>
        <p:txBody>
          <a:bodyPr wrap="square" lIns="0" tIns="0" rIns="0" bIns="0" rtlCol="0" anchor="t"/>
          <a:lstStyle/>
          <a:p>
            <a:pPr indent="0" marL="0">
              <a:buNone/>
            </a:pPr>
            <a:r>
              <a:rPr lang="en-US" sz="1800" dirty="0">
                <a:solidFill>
                  <a:srgbClr val="5F6368"/>
                </a:solidFill>
                <a:latin typeface="Calibri" pitchFamily="34" charset="0"/>
                <a:ea typeface="Calibri" pitchFamily="34" charset="-122"/>
                <a:cs typeface="Calibri" pitchFamily="34" charset="-120"/>
              </a:rPr>
              <a:t>voice clips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2F7"/>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indent="0" marL="0">
              <a:buNone/>
            </a:pPr>
            <a:r>
              <a:rPr lang="en-US" sz="1300" b="1" spc="200" kern="0" dirty="0">
                <a:solidFill>
                  <a:srgbClr val="1F3A68"/>
                </a:solidFill>
                <a:latin typeface="Calibri" pitchFamily="34" charset="0"/>
                <a:ea typeface="Calibri" pitchFamily="34" charset="-122"/>
                <a:cs typeface="Calibri" pitchFamily="34" charset="-120"/>
              </a:rPr>
              <a:t>REFERENCES</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indent="0" marL="0">
              <a:buNone/>
            </a:pPr>
            <a:r>
              <a:rPr lang="en-US" sz="3400" b="1" dirty="0">
                <a:solidFill>
                  <a:srgbClr val="1A1A1A"/>
                </a:solidFill>
                <a:latin typeface="Calibri" pitchFamily="34" charset="0"/>
                <a:ea typeface="Calibri" pitchFamily="34" charset="-122"/>
                <a:cs typeface="Calibri" pitchFamily="34" charset="-120"/>
              </a:rPr>
              <a:t>Key references (IEEE; numbers as in our report)</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5F6368"/>
                </a:solidFill>
                <a:latin typeface="Calibri" pitchFamily="34" charset="0"/>
                <a:ea typeface="Calibri" pitchFamily="34" charset="-122"/>
                <a:cs typeface="Calibri" pitchFamily="34" charset="-120"/>
              </a:rPr>
              <a:t>15 / 16</a:t>
            </a:r>
            <a:endParaRPr lang="en-US" sz="1200" dirty="0"/>
          </a:p>
        </p:txBody>
      </p:sp>
      <p:sp>
        <p:nvSpPr>
          <p:cNvPr id="6" name="Text 4"/>
          <p:cNvSpPr txBox="1"/>
          <p:nvPr/>
        </p:nvSpPr>
        <p:spPr>
          <a:xfrm>
            <a:off x="548640" y="1554480"/>
            <a:ext cx="11094415" cy="4663440"/>
          </a:xfrm>
          <a:prstGeom prst="rect">
            <a:avLst/>
          </a:prstGeom>
          <a:noFill/>
          <a:ln/>
        </p:spPr>
        <p:txBody>
          <a:bodyPr wrap="square" lIns="0" tIns="0" rIns="0" bIns="0" rtlCol="0" anchor="t"/>
          <a:lstStyle/>
          <a:p>
            <a:pPr indent="0" marL="0">
              <a:spcAft>
                <a:spcPts val="800"/>
              </a:spcAft>
              <a:buNone/>
            </a:pPr>
            <a:r>
              <a:rPr lang="en-US" sz="1600" dirty="0">
                <a:solidFill>
                  <a:srgbClr val="1A1A1A"/>
                </a:solidFill>
                <a:latin typeface="Calibri" pitchFamily="34" charset="0"/>
                <a:ea typeface="Calibri" pitchFamily="34" charset="-122"/>
                <a:cs typeface="Calibri" pitchFamily="34" charset="-120"/>
              </a:rPr>
              <a:t>[1] A. Adhikary et al., “How does the adoption of digital payment technologies influence unorganized retailers’ performance?,” J. Acad. Marketing Sci., vol. 49, no. 5, 2021.</a:t>
            </a:r>
            <a:endParaRPr lang="en-US" sz="1600" dirty="0"/>
          </a:p>
          <a:p>
            <a:pPr indent="0" marL="0">
              <a:spcAft>
                <a:spcPts val="800"/>
              </a:spcAft>
              <a:buNone/>
            </a:pPr>
            <a:r>
              <a:rPr lang="en-US" sz="1600" dirty="0">
                <a:solidFill>
                  <a:srgbClr val="1A1A1A"/>
                </a:solidFill>
                <a:latin typeface="Calibri" pitchFamily="34" charset="0"/>
                <a:ea typeface="Calibri" pitchFamily="34" charset="-122"/>
                <a:cs typeface="Calibri" pitchFamily="34" charset="-120"/>
              </a:rPr>
              <a:t>[3] I. Medhi, A. Sagar, and K. Toyama, “Text-free user interfaces for illiterate and semiliterate users,” Inf. Technol. Int. Develop., vol. 4, no. 1, 2007.</a:t>
            </a:r>
            <a:endParaRPr lang="en-US" sz="1600" dirty="0"/>
          </a:p>
          <a:p>
            <a:pPr indent="0" marL="0">
              <a:spcAft>
                <a:spcPts val="800"/>
              </a:spcAft>
              <a:buNone/>
            </a:pPr>
            <a:r>
              <a:rPr lang="en-US" sz="1600" dirty="0">
                <a:solidFill>
                  <a:srgbClr val="1A1A1A"/>
                </a:solidFill>
                <a:latin typeface="Calibri" pitchFamily="34" charset="0"/>
                <a:ea typeface="Calibri" pitchFamily="34" charset="-122"/>
                <a:cs typeface="Calibri" pitchFamily="34" charset="-120"/>
              </a:rPr>
              <a:t>[4] N. Patel et al., “Avaaj Otalo: A field study of an interactive voice forum for small farmers in rural India,” in Proc. CHI, 2010.</a:t>
            </a:r>
            <a:endParaRPr lang="en-US" sz="1600" dirty="0"/>
          </a:p>
          <a:p>
            <a:pPr indent="0" marL="0">
              <a:spcAft>
                <a:spcPts val="800"/>
              </a:spcAft>
              <a:buNone/>
            </a:pPr>
            <a:r>
              <a:rPr lang="en-US" sz="1600" dirty="0">
                <a:solidFill>
                  <a:srgbClr val="1A1A1A"/>
                </a:solidFill>
                <a:latin typeface="Calibri" pitchFamily="34" charset="0"/>
                <a:ea typeface="Calibri" pitchFamily="34" charset="-122"/>
                <a:cs typeface="Calibri" pitchFamily="34" charset="-120"/>
              </a:rPr>
              <a:t>[5] A. Radford et al., “Robust speech recognition via large-scale weak supervision,” in Proc. ICML, PMLR 202, 2023.</a:t>
            </a:r>
            <a:endParaRPr lang="en-US" sz="1600" dirty="0"/>
          </a:p>
          <a:p>
            <a:pPr indent="0" marL="0">
              <a:spcAft>
                <a:spcPts val="800"/>
              </a:spcAft>
              <a:buNone/>
            </a:pPr>
            <a:r>
              <a:rPr lang="en-US" sz="1600" dirty="0">
                <a:solidFill>
                  <a:srgbClr val="1A1A1A"/>
                </a:solidFill>
                <a:latin typeface="Calibri" pitchFamily="34" charset="0"/>
                <a:ea typeface="Calibri" pitchFamily="34" charset="-122"/>
                <a:cs typeface="Calibri" pitchFamily="34" charset="-120"/>
              </a:rPr>
              <a:t>[6] K. Bhogale et al., “Vistaar: Diverse benchmarks and training sets for Indian language ASR,” in Proc. Interspeech, 2023.</a:t>
            </a:r>
            <a:endParaRPr lang="en-US" sz="1600" dirty="0"/>
          </a:p>
          <a:p>
            <a:pPr indent="0" marL="0">
              <a:spcAft>
                <a:spcPts val="800"/>
              </a:spcAft>
              <a:buNone/>
            </a:pPr>
            <a:r>
              <a:rPr lang="en-US" sz="1600" dirty="0">
                <a:solidFill>
                  <a:srgbClr val="1A1A1A"/>
                </a:solidFill>
                <a:latin typeface="Calibri" pitchFamily="34" charset="0"/>
                <a:ea typeface="Calibri" pitchFamily="34" charset="-122"/>
                <a:cs typeface="Calibri" pitchFamily="34" charset="-120"/>
              </a:rPr>
              <a:t>[10] A. Biswas et al., “Adapting Whisper for low-resource Hindi-English code-mix speech…,” in Proc. Interspeech, 2025.</a:t>
            </a:r>
            <a:endParaRPr lang="en-US" sz="1600" dirty="0"/>
          </a:p>
          <a:p>
            <a:pPr indent="0" marL="0">
              <a:spcAft>
                <a:spcPts val="800"/>
              </a:spcAft>
              <a:buNone/>
            </a:pPr>
            <a:r>
              <a:rPr lang="en-US" sz="1600" dirty="0">
                <a:solidFill>
                  <a:srgbClr val="1A1A1A"/>
                </a:solidFill>
                <a:latin typeface="Calibri" pitchFamily="34" charset="0"/>
                <a:ea typeface="Calibri" pitchFamily="34" charset="-122"/>
                <a:cs typeface="Calibri" pitchFamily="34" charset="-120"/>
              </a:rPr>
              <a:t>[11] Y.-Y. Wang, A. Acero, and C. Chelba, “Is word error rate a good indicator for spoken language understanding accuracy,” in Proc. IEEE ASRU, 2003.</a:t>
            </a:r>
            <a:endParaRPr lang="en-US" sz="1600" dirty="0"/>
          </a:p>
          <a:p>
            <a:pPr indent="0" marL="0">
              <a:spcAft>
                <a:spcPts val="800"/>
              </a:spcAft>
              <a:buNone/>
            </a:pPr>
            <a:r>
              <a:rPr lang="en-US" sz="1600" dirty="0">
                <a:solidFill>
                  <a:srgbClr val="1A1A1A"/>
                </a:solidFill>
                <a:latin typeface="Calibri" pitchFamily="34" charset="0"/>
                <a:ea typeface="Calibri" pitchFamily="34" charset="-122"/>
                <a:cs typeface="Calibri" pitchFamily="34" charset="-120"/>
              </a:rPr>
              <a:t>[14] E. Bastianelli et al., “SLURP: A spoken language understanding resource package,” in Proc. EMNLP, 2020.</a:t>
            </a:r>
            <a:endParaRPr lang="en-US" sz="1600" dirty="0"/>
          </a:p>
          <a:p>
            <a:pPr indent="0" marL="0">
              <a:spcAft>
                <a:spcPts val="800"/>
              </a:spcAft>
              <a:buNone/>
            </a:pPr>
            <a:r>
              <a:rPr lang="en-US" sz="1600" dirty="0">
                <a:solidFill>
                  <a:srgbClr val="1A1A1A"/>
                </a:solidFill>
                <a:latin typeface="Calibri" pitchFamily="34" charset="0"/>
                <a:ea typeface="Calibri" pitchFamily="34" charset="-122"/>
                <a:cs typeface="Calibri" pitchFamily="34" charset="-120"/>
              </a:rPr>
              <a:t>[19] A. Söhler, J. Irigoyen, and A. S. Kirkedal, “Quantizing Whisper-small: How design choices affect ASR performance,” SPEAKABLE @ LREC, 2026.</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223D"/>
        </a:solidFill>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22345C">
              <a:alpha val="70000"/>
            </a:srgbClr>
          </a:solidFill>
          <a:ln w="12700">
            <a:solidFill>
              <a:srgbClr val="22345C">
                <a:alpha val="0"/>
              </a:srgbClr>
            </a:solidFill>
            <a:prstDash val="solid"/>
          </a:ln>
        </p:spPr>
      </p:sp>
      <p:sp>
        <p:nvSpPr>
          <p:cNvPr id="3" name="Shape 1"/>
          <p:cNvSpPr/>
          <p:nvPr/>
        </p:nvSpPr>
        <p:spPr>
          <a:xfrm>
            <a:off x="10972800" y="5120640"/>
            <a:ext cx="2194560" cy="2194560"/>
          </a:xfrm>
          <a:prstGeom prst="ellipse">
            <a:avLst/>
          </a:prstGeom>
          <a:solidFill>
            <a:srgbClr val="E8A33D">
              <a:alpha val="55000"/>
            </a:srgbClr>
          </a:solidFill>
          <a:ln w="12700">
            <a:solidFill>
              <a:srgbClr val="E8A33D">
                <a:alpha val="0"/>
              </a:srgbClr>
            </a:solidFill>
            <a:prstDash val="solid"/>
          </a:ln>
        </p:spPr>
      </p:sp>
      <p:sp>
        <p:nvSpPr>
          <p:cNvPr id="4" name="Text 2"/>
          <p:cNvSpPr txBox="1"/>
          <p:nvPr/>
        </p:nvSpPr>
        <p:spPr>
          <a:xfrm>
            <a:off x="548640" y="6400800"/>
            <a:ext cx="8229600" cy="274320"/>
          </a:xfrm>
          <a:prstGeom prst="rect">
            <a:avLst/>
          </a:prstGeom>
          <a:noFill/>
          <a:ln/>
        </p:spPr>
        <p:txBody>
          <a:bodyPr wrap="square" lIns="0" tIns="0" rIns="0" bIns="0" rtlCol="0" anchor="ctr"/>
          <a:lstStyle/>
          <a:p>
            <a:pPr indent="0" marL="0">
              <a:buNone/>
            </a:pPr>
            <a:r>
              <a:rPr lang="en-US" sz="1200" dirty="0">
                <a:solidFill>
                  <a:srgbClr val="C9D3E6"/>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algn="r" indent="0" marL="0">
              <a:buNone/>
            </a:pPr>
            <a:r>
              <a:rPr lang="en-US" sz="1200" dirty="0">
                <a:solidFill>
                  <a:srgbClr val="C9D3E6"/>
                </a:solidFill>
                <a:latin typeface="Calibri" pitchFamily="34" charset="0"/>
                <a:ea typeface="Calibri" pitchFamily="34" charset="-122"/>
                <a:cs typeface="Calibri" pitchFamily="34" charset="-120"/>
              </a:rPr>
              <a:t>16 / 16</a:t>
            </a:r>
            <a:endParaRPr lang="en-US" sz="1200" dirty="0"/>
          </a:p>
        </p:txBody>
      </p:sp>
      <p:sp>
        <p:nvSpPr>
          <p:cNvPr id="6" name="Text 4"/>
          <p:cNvSpPr txBox="1"/>
          <p:nvPr/>
        </p:nvSpPr>
        <p:spPr>
          <a:xfrm>
            <a:off x="548640" y="1828800"/>
            <a:ext cx="11094415" cy="1097280"/>
          </a:xfrm>
          <a:prstGeom prst="rect">
            <a:avLst/>
          </a:prstGeom>
          <a:noFill/>
          <a:ln/>
        </p:spPr>
        <p:txBody>
          <a:bodyPr wrap="square" lIns="0" tIns="0" rIns="0" bIns="0"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7" name="Text 5"/>
          <p:cNvSpPr txBox="1"/>
          <p:nvPr/>
        </p:nvSpPr>
        <p:spPr>
          <a:xfrm>
            <a:off x="548640" y="2971800"/>
            <a:ext cx="11094415" cy="731520"/>
          </a:xfrm>
          <a:prstGeom prst="rect">
            <a:avLst/>
          </a:prstGeom>
          <a:noFill/>
          <a:ln/>
        </p:spPr>
        <p:txBody>
          <a:bodyPr wrap="square" lIns="0" tIns="0" rIns="0" bIns="0" rtlCol="0" anchor="ctr"/>
          <a:lstStyle/>
          <a:p>
            <a:pPr algn="ctr" indent="0" marL="0">
              <a:buNone/>
            </a:pPr>
            <a:r>
              <a:rPr lang="en-US" sz="3200" dirty="0">
                <a:solidFill>
                  <a:srgbClr val="E8A33D"/>
                </a:solidFill>
                <a:latin typeface="Calibri" pitchFamily="34" charset="0"/>
                <a:ea typeface="Calibri" pitchFamily="34" charset="-122"/>
                <a:cs typeface="Calibri" pitchFamily="34" charset="-120"/>
              </a:rPr>
              <a:t>Questions?</a:t>
            </a:r>
            <a:endParaRPr lang="en-US" sz="3200" dirty="0"/>
          </a:p>
        </p:txBody>
      </p:sp>
      <p:sp>
        <p:nvSpPr>
          <p:cNvPr id="8" name="Text 6"/>
          <p:cNvSpPr txBox="1"/>
          <p:nvPr/>
        </p:nvSpPr>
        <p:spPr>
          <a:xfrm>
            <a:off x="548640" y="3977640"/>
            <a:ext cx="11094415" cy="548640"/>
          </a:xfrm>
          <a:prstGeom prst="rect">
            <a:avLst/>
          </a:prstGeom>
          <a:noFill/>
          <a:ln/>
        </p:spPr>
        <p:txBody>
          <a:bodyPr wrap="square" lIns="0" tIns="0" rIns="0" bIns="0" rtlCol="0" anchor="t"/>
          <a:lstStyle/>
          <a:p>
            <a:pPr algn="ctr" indent="0" marL="0">
              <a:buNone/>
            </a:pPr>
            <a:r>
              <a:rPr lang="en-US" sz="2000" i="1" dirty="0">
                <a:solidFill>
                  <a:srgbClr val="C9D3E6"/>
                </a:solidFill>
                <a:latin typeface="Calibri" pitchFamily="34" charset="0"/>
                <a:ea typeface="Calibri" pitchFamily="34" charset="-122"/>
                <a:cs typeface="Calibri" pitchFamily="34" charset="-120"/>
              </a:rPr>
              <a:t>Offline voice khata · judged in rupees, not just words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Offline Voice-Based Khata Entry</dc:title>
  <dc:subject>PptxGenJS Presentation</dc:subject>
  <dc:creator>PptxGenJS</dc:creator>
  <cp:lastModifiedBy>PptxGenJS</cp:lastModifiedBy>
  <cp:revision>1</cp:revision>
  <dcterms:created xsi:type="dcterms:W3CDTF">2026-09-22T15:19:02Z</dcterms:created>
  <dcterms:modified xsi:type="dcterms:W3CDTF">2026-09-22T15:19:02Z</dcterms:modified>
</cp:coreProperties>
</file>