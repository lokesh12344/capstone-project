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634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Orientation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Introduction  —  A guide for the </a:t>
            </a:r>
            <a:r>
              <a:rPr lang="en-US" sz="1600" i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12-week experiential approach — one tangible research output every week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COURSE ORIENTATION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Research?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NOT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collecting information or preparing a project.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577840" cy="3566160"/>
          </a:xfrm>
          <a:prstGeom prst="roundRect">
            <a:avLst>
              <a:gd name="adj" fmla="val 2564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24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systematic process: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2004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00400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 problem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36850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85032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685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existing work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416966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69664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1696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 gap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46542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54296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6542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Proposing a solution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68680" y="51389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38928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51389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it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68680" y="56235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623560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5623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the findings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0" y="1554480"/>
            <a:ext cx="5257800" cy="4526280"/>
          </a:xfrm>
          <a:prstGeom prst="roundRect">
            <a:avLst>
              <a:gd name="adj" fmla="val 202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1783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COVERAGE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2103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students to: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251460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identification &amp; classification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 &amp; data analysis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writing &amp; creativity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DOE (Design of Experiments)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(Intellectual Property)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✦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COURSE ORIENTATION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Questions Students Should 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11096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11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4297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research?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572768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6208" y="1911096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236208" y="1911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1645920"/>
            <a:ext cx="4297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research different from routine problem-solving?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099816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099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34640"/>
            <a:ext cx="4297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problem a research problem?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2761488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3099816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3099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2834640"/>
            <a:ext cx="4297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research gap?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288536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288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023360"/>
            <a:ext cx="4297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research problem significant?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3950208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6208" y="4288536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6236208" y="4288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20840" y="4023360"/>
            <a:ext cx="4297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novelty?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138928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5477256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477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34440" y="5212080"/>
            <a:ext cx="4297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convert an idea into a research question?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035040" y="5138928"/>
            <a:ext cx="5166360" cy="1024128"/>
          </a:xfrm>
          <a:prstGeom prst="roundRect">
            <a:avLst>
              <a:gd name="adj" fmla="val 7143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5477256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6236208" y="5477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20840" y="5212080"/>
            <a:ext cx="42976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prove our proposed solution is better?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3733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what are experimental, analytical, simulation, and exploratory research approaches?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COURSE ORIENTATION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Expected Mindset Shift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4892040" cy="2103120"/>
          </a:xfrm>
          <a:prstGeom prst="roundRect">
            <a:avLst>
              <a:gd name="adj" fmla="val 4348"/>
            </a:avLst>
          </a:prstGeom>
          <a:solidFill>
            <a:srgbClr val="F1F3F6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5603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454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want to make a project.”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656832" y="2377440"/>
            <a:ext cx="489204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85432" y="25603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85432" y="2907792"/>
            <a:ext cx="4434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have identified a problem, studied what has already been done, found a gap, and want to investigate a specific research question.”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669280" y="3172968"/>
            <a:ext cx="777240" cy="512064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shift is </a:t>
            </a:r>
            <a:r>
              <a:rPr lang="en-US" sz="14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outcome </a:t>
            </a: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orientation session.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Search for Research Papers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8–10 relevant papers and prepare a comparison matrix covering objective, methodology, results, limitations, and research gap.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3649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65633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6563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286000"/>
            <a:ext cx="2542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96512" y="2286000"/>
            <a:ext cx="33649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265633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6563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36592" y="2286000"/>
            <a:ext cx="2542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44384" y="2286000"/>
            <a:ext cx="33649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45552" y="265633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845552" y="26563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84464" y="2286000"/>
            <a:ext cx="2542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ScienceDirect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33649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89077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8907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520440"/>
            <a:ext cx="2542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SpringerLink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096512" y="3520440"/>
            <a:ext cx="33649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389077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38907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6592" y="3520440"/>
            <a:ext cx="2542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Digital Library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644384" y="3520440"/>
            <a:ext cx="33649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45552" y="389077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845552" y="38907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84464" y="3520440"/>
            <a:ext cx="2542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 Online Library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33649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512521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1252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4754880"/>
            <a:ext cx="2542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096512" y="4754880"/>
            <a:ext cx="33649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0" y="512521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0" y="51252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36592" y="4754880"/>
            <a:ext cx="2542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of Science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644384" y="4754880"/>
            <a:ext cx="33649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45552" y="512521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7845552" y="51252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84464" y="4754880"/>
            <a:ext cx="2542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Repositories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Search — Start Broad, Then Refine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keywords, not a complete sentence.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145536" cy="566928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31455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for Smart Healthcare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94176" y="2377440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86784" y="2377440"/>
            <a:ext cx="1129284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3986784" y="2377440"/>
            <a:ext cx="11292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16068" y="2377440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08676" y="2377440"/>
            <a:ext cx="1033272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5408676" y="2377440"/>
            <a:ext cx="1033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41948" y="2377440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34556" y="2377440"/>
            <a:ext cx="141732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734556" y="237744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51876" y="2377440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44484" y="2377440"/>
            <a:ext cx="914400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8444484" y="237744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172968"/>
            <a:ext cx="2089404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172968"/>
            <a:ext cx="20894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38044" y="3172968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930652" y="3172968"/>
            <a:ext cx="3433572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2930652" y="3172968"/>
            <a:ext cx="34335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 ECG anomaly detection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1042416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52628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STRATEGY OPERATORS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892040"/>
            <a:ext cx="3310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the search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06824" y="4892040"/>
            <a:ext cx="3310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alternatives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90688" y="4892040"/>
            <a:ext cx="3310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unwanted areas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5577840"/>
            <a:ext cx="3310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“exact phrase”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an exact phrase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06824" y="5577840"/>
            <a:ext cx="3310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Recent-year filters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current work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90688" y="5577840"/>
            <a:ext cx="3310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Review/survey papers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understanding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LITERATURE SURVEY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Selection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02336" cy="4023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58191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paper directly related to the topic?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6255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62556"/>
            <a:ext cx="402336" cy="4023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14426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methodology clearly explained?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24912"/>
            <a:ext cx="402336" cy="4023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70662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experimental / simulation validation?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872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87268"/>
            <a:ext cx="402336" cy="4023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2689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dataset, hardware, or software was used?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9624"/>
            <a:ext cx="402336" cy="4023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383133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results?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4119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11980"/>
            <a:ext cx="402336" cy="4023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439369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limitations are reported?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974336"/>
            <a:ext cx="402336" cy="402336"/>
          </a:xfrm>
          <a:prstGeom prst="ellipse">
            <a:avLst/>
          </a:prstGeom>
          <a:solidFill>
            <a:srgbClr val="9A2B2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974336"/>
            <a:ext cx="402336" cy="40233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495604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NOT been solved?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60920" y="1600200"/>
            <a:ext cx="4279392" cy="4206240"/>
          </a:xfrm>
          <a:prstGeom prst="roundRect">
            <a:avLst>
              <a:gd name="adj" fmla="val 2174"/>
            </a:avLst>
          </a:prstGeom>
          <a:solidFill>
            <a:srgbClr val="FBECEC"/>
          </a:solidFill>
          <a:ln w="12700">
            <a:solidFill>
              <a:srgbClr val="E6C2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1828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35240" y="21488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6E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literature survey is NOT a collection of paper summaries.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35240" y="30632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purpose is to establish the evolution of the problem and identify the research gap.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35240" y="4251960"/>
            <a:ext cx="3749040" cy="0"/>
          </a:xfrm>
          <a:prstGeom prst="line">
            <a:avLst/>
          </a:prstGeom>
          <a:noFill/>
          <a:ln w="12700">
            <a:solidFill>
              <a:srgbClr val="E6C2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438912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matrix columns: Paper · Problem · Methodology · Dataset/Hardware · Results · Limitation · Possible Gap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IDENTIFYING A RESEARCH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Topic to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130552" y="2587752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13432" y="21031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E2761">
              <a:alpha val="9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313432" y="210312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95344" y="2587752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78224" y="21031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E2761">
              <a:alpha val="8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078224" y="210312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0136" y="2587752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43016" y="21031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E2761">
              <a:alpha val="8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843016" y="210312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24928" y="2587752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607808" y="21031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E2761">
              <a:alpha val="7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07808" y="210312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89720" y="2587752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372600" y="210312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E2761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210312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3794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narrows the previous one — a broad topic is progressively focused into a testable, methodologically grounded research plan.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10424160" cy="1508760"/>
          </a:xfrm>
          <a:prstGeom prst="roundRect">
            <a:avLst>
              <a:gd name="adj" fmla="val 6061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548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Course-long progression: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0749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 → Literature survey → Research gap → Objectives → Methodology → DOE → Data / Modelling → Technical writing → IP potential → Ethics → Collaboration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IDENTIFYING A RESEARCH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TinyML Monitoring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44368" y="1508760"/>
            <a:ext cx="8028432" cy="621792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81528" y="1508760"/>
            <a:ext cx="77541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for environmental monitoring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2199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44368" y="2221992"/>
            <a:ext cx="8028432" cy="621792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2221992"/>
            <a:ext cx="77541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monitoring systems consume significant energy or depend on cloud connectivity.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35224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35224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finding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944368" y="2935224"/>
            <a:ext cx="8028432" cy="777240"/>
          </a:xfrm>
          <a:prstGeom prst="roundRect">
            <a:avLst>
              <a:gd name="adj" fmla="val 7059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81528" y="2935224"/>
            <a:ext cx="7754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use lightweight models, but limited work exists for a particular sensor combination, deployment environment, or optimization criterion.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9A2B2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03904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944368" y="3803904"/>
            <a:ext cx="8028432" cy="621792"/>
          </a:xfrm>
          <a:prstGeom prst="roundRect">
            <a:avLst>
              <a:gd name="adj" fmla="val 8824"/>
            </a:avLst>
          </a:prstGeom>
          <a:solidFill>
            <a:srgbClr val="FBECEC"/>
          </a:solidFill>
          <a:ln w="12700">
            <a:solidFill>
              <a:srgbClr val="E6C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81528" y="3803904"/>
            <a:ext cx="77541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investigation of an ultra-low-power model under specified resource constraints.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17136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17136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944368" y="4517136"/>
            <a:ext cx="8028432" cy="777240"/>
          </a:xfrm>
          <a:prstGeom prst="roundRect">
            <a:avLst>
              <a:gd name="adj" fmla="val 7059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81528" y="4517136"/>
            <a:ext cx="7754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quantized TinyML model provide acceptable detection accuracy while reducing memory and energy consumption?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85816"/>
            <a:ext cx="228600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8581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944368" y="5385816"/>
            <a:ext cx="8028432" cy="621792"/>
          </a:xfrm>
          <a:prstGeom prst="roundRect">
            <a:avLst>
              <a:gd name="adj" fmla="val 8824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81528" y="5385816"/>
            <a:ext cx="77541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and evaluate a quantized TinyML model for low-power environmental monitoring.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WRITING A TECHNICAL RESEARCH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Paper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07492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3337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33372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6276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25880" y="195681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concise, technical, reflective of the contribution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97880" y="1536192"/>
            <a:ext cx="507492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62472" y="183337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062472" y="1833372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16276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75120" y="195681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Gap → Method → Results → Contribution (write it last)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88336"/>
            <a:ext cx="507492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98551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985516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27797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25880" y="310896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importance, prior work, gap, proposal, contributions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97880" y="2688336"/>
            <a:ext cx="507492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62472" y="298551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062472" y="2985516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75120" y="27797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75120" y="310896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approaches — don't just list “Paper A did X”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507492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13766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137660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25880" y="39319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25880" y="426110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Processing → Proposed Method → Output; reproducible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97880" y="3840480"/>
            <a:ext cx="507492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62472" y="413766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062472" y="4137660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75120" y="39319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675120" y="426110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graphs, comparisons — and explain them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992624"/>
            <a:ext cx="507492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52898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5289804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25880" y="50840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325880" y="541324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achieved, limitations, next steps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97880" y="4992624"/>
            <a:ext cx="507492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62472" y="52898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062472" y="5289804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675120" y="50840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6675120" y="541324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style; verify every citation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WRITING A TECHNICAL RESEARCH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Titles and Abstracts — Get Specific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TITLE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BECEC"/>
          </a:solidFill>
          <a:ln w="12700">
            <a:solidFill>
              <a:srgbClr val="E6C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400" i="1" dirty="0">
                <a:solidFill>
                  <a:srgbClr val="6E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Study of AI”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3EC"/>
          </a:solidFill>
          <a:ln w="12700">
            <a:solidFill>
              <a:srgbClr val="BFE0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5176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i="1" dirty="0">
                <a:solidFill>
                  <a:srgbClr val="27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Lightweight Quantized Neural Network for Real-Time Anomaly Detection on Edge Devices”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364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FORMULA  (write it last)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901952"/>
            <a:ext cx="5394960" cy="301752"/>
          </a:xfrm>
          <a:prstGeom prst="roundRect">
            <a:avLst>
              <a:gd name="adj" fmla="val 48485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901952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304288"/>
            <a:ext cx="5394960" cy="301752"/>
          </a:xfrm>
          <a:prstGeom prst="roundRect">
            <a:avLst>
              <a:gd name="adj" fmla="val 48485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304288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2706624"/>
            <a:ext cx="5394960" cy="301752"/>
          </a:xfrm>
          <a:prstGeom prst="roundRect">
            <a:avLst>
              <a:gd name="adj" fmla="val 48485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706624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108960"/>
            <a:ext cx="5394960" cy="301752"/>
          </a:xfrm>
          <a:prstGeom prst="roundRect">
            <a:avLst>
              <a:gd name="adj" fmla="val 48485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108960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511296"/>
            <a:ext cx="5394960" cy="301752"/>
          </a:xfrm>
          <a:prstGeom prst="roundRect">
            <a:avLst>
              <a:gd name="adj" fmla="val 48485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511296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10996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605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SHOULD ANSWER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526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the problem?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89120" y="4526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is it important?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55280" y="4526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has already been done?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5029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still missing?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389120" y="5029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are you proposing?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955280" y="5029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are your contributions?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the introduction with clearly stated research objectives / contributions.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WRITING A TECHNICAL RESEARCH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 — Explain, Don't Just Present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tables · graphs · accuracy/performance metrics · comparison with existing methods · statistical analysis · observations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BECEC"/>
          </a:solidFill>
          <a:ln w="12700">
            <a:solidFill>
              <a:srgbClr val="E6C2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Just presenting results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“Model A achieved 94.2% accuracy.”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160" y="233172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EAF3EC"/>
          </a:solidFill>
          <a:ln w="12700">
            <a:solidFill>
              <a:srgbClr val="BFE0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Explaining the results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29260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75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“Model A achieved 94.2% accuracy compared with 91.7% for the baseline, while reducing memory requirements by 28%.”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should answer: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649578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120640"/>
            <a:ext cx="1649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35378" y="5120640"/>
            <a:ext cx="2291486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2335378" y="5120640"/>
            <a:ext cx="22914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major finding?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64024" y="5120640"/>
            <a:ext cx="2220163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4764024" y="5120640"/>
            <a:ext cx="222016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objectives fulfilled?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21347" y="51206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7121347" y="5120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limitations?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407347" y="5120640"/>
            <a:ext cx="1934870" cy="45720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9407347" y="5120640"/>
            <a:ext cx="19348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be done next?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TECHNICAL WRITING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and Don'ts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617720"/>
          </a:xfrm>
          <a:prstGeom prst="roundRect">
            <a:avLst>
              <a:gd name="adj" fmla="val 1980"/>
            </a:avLst>
          </a:prstGeom>
          <a:solidFill>
            <a:srgbClr val="EAF3EC"/>
          </a:solidFill>
          <a:ln w="12700">
            <a:solidFill>
              <a:srgbClr val="BFE0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6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40000"/>
              </a:lnSpc>
              <a:buSzPct val="100000"/>
              <a:buChar char="✓"/>
            </a:pPr>
            <a:r>
              <a:rPr lang="en-US" sz="1300" dirty="0">
                <a:solidFill>
                  <a:srgbClr val="27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own technical language</a:t>
            </a:r>
            <a:endParaRPr lang="en-US" sz="1300" dirty="0"/>
          </a:p>
          <a:p>
            <a:pPr marL="228600" indent="-228600">
              <a:lnSpc>
                <a:spcPct val="140000"/>
              </a:lnSpc>
              <a:buSzPct val="100000"/>
              <a:buChar char="✓"/>
            </a:pPr>
            <a:r>
              <a:rPr lang="en-US" sz="1300" dirty="0">
                <a:solidFill>
                  <a:srgbClr val="27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precise terminology</a:t>
            </a:r>
            <a:endParaRPr lang="en-US" sz="1300" dirty="0"/>
          </a:p>
          <a:p>
            <a:pPr marL="228600" indent="-228600">
              <a:lnSpc>
                <a:spcPct val="140000"/>
              </a:lnSpc>
              <a:buSzPct val="100000"/>
              <a:buChar char="✓"/>
            </a:pPr>
            <a:r>
              <a:rPr lang="en-US" sz="1300" dirty="0">
                <a:solidFill>
                  <a:srgbClr val="27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claims with references</a:t>
            </a:r>
            <a:endParaRPr lang="en-US" sz="1300" dirty="0"/>
          </a:p>
          <a:p>
            <a:pPr marL="228600" indent="-228600">
              <a:lnSpc>
                <a:spcPct val="140000"/>
              </a:lnSpc>
              <a:buSzPct val="100000"/>
              <a:buChar char="✓"/>
            </a:pPr>
            <a:r>
              <a:rPr lang="en-US" sz="1300" dirty="0">
                <a:solidFill>
                  <a:srgbClr val="27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figures/tables wherever they improve clarity</a:t>
            </a:r>
            <a:endParaRPr lang="en-US" sz="1300" dirty="0"/>
          </a:p>
          <a:p>
            <a:pPr marL="228600" indent="-228600">
              <a:lnSpc>
                <a:spcPct val="140000"/>
              </a:lnSpc>
              <a:buSzPct val="100000"/>
              <a:buChar char="✓"/>
            </a:pPr>
            <a:r>
              <a:rPr lang="en-US" sz="1300" dirty="0">
                <a:solidFill>
                  <a:srgbClr val="27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logical flow</a:t>
            </a:r>
            <a:endParaRPr lang="en-US" sz="1300" dirty="0"/>
          </a:p>
          <a:p>
            <a:pPr marL="228600" indent="-228600">
              <a:lnSpc>
                <a:spcPct val="140000"/>
              </a:lnSpc>
              <a:buSzPct val="100000"/>
              <a:buChar char="✓"/>
            </a:pPr>
            <a:r>
              <a:rPr lang="en-US" sz="1300" dirty="0">
                <a:solidFill>
                  <a:srgbClr val="27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results wherever possible</a:t>
            </a:r>
            <a:endParaRPr lang="en-US" sz="1300" dirty="0"/>
          </a:p>
          <a:p>
            <a:pPr marL="228600" indent="-228600">
              <a:lnSpc>
                <a:spcPct val="140000"/>
              </a:lnSpc>
              <a:buSzPct val="100000"/>
              <a:buChar char="✓"/>
            </a:pPr>
            <a:r>
              <a:rPr lang="en-US" sz="1300" dirty="0">
                <a:solidFill>
                  <a:srgbClr val="275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state limitations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554480"/>
            <a:ext cx="5120640" cy="4617720"/>
          </a:xfrm>
          <a:prstGeom prst="roundRect">
            <a:avLst>
              <a:gd name="adj" fmla="val 1980"/>
            </a:avLst>
          </a:prstGeom>
          <a:solidFill>
            <a:srgbClr val="FBECEC"/>
          </a:solidFill>
          <a:ln w="12700">
            <a:solidFill>
              <a:srgbClr val="E6C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40000"/>
              </a:lnSpc>
              <a:buSzPct val="100000"/>
              <a:buChar char="✗"/>
            </a:pPr>
            <a:r>
              <a:rPr lang="en-US" sz="1300" dirty="0">
                <a:solidFill>
                  <a:srgbClr val="6E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from papers/websites</a:t>
            </a:r>
            <a:endParaRPr lang="en-US" sz="1300" dirty="0"/>
          </a:p>
          <a:p>
            <a:pPr marL="228600" indent="-228600">
              <a:lnSpc>
                <a:spcPct val="140000"/>
              </a:lnSpc>
              <a:buSzPct val="100000"/>
              <a:buChar char="✗"/>
            </a:pPr>
            <a:r>
              <a:rPr lang="en-US" sz="1300" dirty="0">
                <a:solidFill>
                  <a:srgbClr val="6E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few words and call it paraphrasing</a:t>
            </a:r>
            <a:endParaRPr lang="en-US" sz="1300" dirty="0"/>
          </a:p>
          <a:p>
            <a:pPr marL="228600" indent="-228600">
              <a:lnSpc>
                <a:spcPct val="140000"/>
              </a:lnSpc>
              <a:buSzPct val="100000"/>
              <a:buChar char="✗"/>
            </a:pPr>
            <a:r>
              <a:rPr lang="en-US" sz="1300" dirty="0">
                <a:solidFill>
                  <a:srgbClr val="6E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results</a:t>
            </a:r>
            <a:endParaRPr lang="en-US" sz="1300" dirty="0"/>
          </a:p>
          <a:p>
            <a:pPr marL="228600" indent="-228600">
              <a:lnSpc>
                <a:spcPct val="140000"/>
              </a:lnSpc>
              <a:buSzPct val="100000"/>
              <a:buChar char="✗"/>
            </a:pPr>
            <a:r>
              <a:rPr lang="en-US" sz="1300" dirty="0">
                <a:solidFill>
                  <a:srgbClr val="6E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references</a:t>
            </a:r>
            <a:endParaRPr lang="en-US" sz="1300" dirty="0"/>
          </a:p>
          <a:p>
            <a:pPr marL="228600" indent="-228600">
              <a:lnSpc>
                <a:spcPct val="140000"/>
              </a:lnSpc>
              <a:buSzPct val="100000"/>
              <a:buChar char="✗"/>
            </a:pPr>
            <a:r>
              <a:rPr lang="en-US" sz="1300" dirty="0">
                <a:solidFill>
                  <a:srgbClr val="6E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AI-generated references without verification</a:t>
            </a:r>
            <a:endParaRPr lang="en-US" sz="1300" dirty="0"/>
          </a:p>
          <a:p>
            <a:pPr marL="228600" indent="-228600">
              <a:lnSpc>
                <a:spcPct val="140000"/>
              </a:lnSpc>
              <a:buSzPct val="100000"/>
              <a:buChar char="✗"/>
            </a:pPr>
            <a:r>
              <a:rPr lang="en-US" sz="1300" dirty="0">
                <a:solidFill>
                  <a:srgbClr val="6E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novelty without a literature/patent search</a:t>
            </a:r>
            <a:endParaRPr lang="en-US" sz="1300" dirty="0"/>
          </a:p>
          <a:p>
            <a:pPr marL="228600" indent="-228600">
              <a:lnSpc>
                <a:spcPct val="140000"/>
              </a:lnSpc>
              <a:buSzPct val="100000"/>
              <a:buChar char="✗"/>
            </a:pPr>
            <a:r>
              <a:rPr lang="en-US" sz="1300" dirty="0">
                <a:solidFill>
                  <a:srgbClr val="6E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simulation results as experimental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PATENT 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Patent Search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73352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36192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Invention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609344"/>
            <a:ext cx="0" cy="566928"/>
          </a:xfrm>
          <a:prstGeom prst="line">
            <a:avLst/>
          </a:prstGeom>
          <a:noFill/>
          <a:ln w="12700">
            <a:solidFill>
              <a:srgbClr val="D8E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536192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 · proposed solution · key components · technical difference · innovative feature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78024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2340864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Keywords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2414016"/>
            <a:ext cx="0" cy="566928"/>
          </a:xfrm>
          <a:prstGeom prst="line">
            <a:avLst/>
          </a:prstGeom>
          <a:noFill/>
          <a:ln w="12700">
            <a:solidFill>
              <a:srgbClr val="D8E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340864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invention into searchable technical terms and synonyms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82696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3145536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Patent Databases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3218688"/>
            <a:ext cx="0" cy="566928"/>
          </a:xfrm>
          <a:prstGeom prst="line">
            <a:avLst/>
          </a:prstGeom>
          <a:noFill/>
          <a:ln w="12700">
            <a:solidFill>
              <a:srgbClr val="D8E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145536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keywords, synonyms, technology terms, component names, application areas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8736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87368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950208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the Patent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4023360"/>
            <a:ext cx="0" cy="566928"/>
          </a:xfrm>
          <a:prstGeom prst="line">
            <a:avLst/>
          </a:prstGeom>
          <a:noFill/>
          <a:ln w="12700">
            <a:solidFill>
              <a:srgbClr val="D8E0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950208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applicant, inventor, filing/priority date, abstract, claims, status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892040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4754880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Patent Comparison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0" y="4828032"/>
            <a:ext cx="0" cy="566928"/>
          </a:xfrm>
          <a:prstGeom prst="line">
            <a:avLst/>
          </a:prstGeom>
          <a:noFill/>
          <a:ln w="12700">
            <a:solidFill>
              <a:srgbClr val="D8E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754880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Tabulate problem, invention, features, applicant, date, similarity to your idea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69671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696712"/>
            <a:ext cx="438912" cy="43891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88720" y="5559552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Possible Novelty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0" y="5632704"/>
            <a:ext cx="0" cy="566928"/>
          </a:xfrm>
          <a:prstGeom prst="line">
            <a:avLst/>
          </a:prstGeom>
          <a:noFill/>
          <a:ln w="12700">
            <a:solidFill>
              <a:srgbClr val="D8E0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5559552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is new compared with existing patents?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PATENT 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Keyword Extraction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55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energy management system using Edge AI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EXTRACTED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43000" cy="502920"/>
          </a:xfrm>
          <a:prstGeom prst="roundRect">
            <a:avLst>
              <a:gd name="adj" fmla="val 49091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0896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828800" y="3108960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31089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management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23360" y="3108960"/>
            <a:ext cx="1508760" cy="502920"/>
          </a:xfrm>
          <a:prstGeom prst="roundRect">
            <a:avLst>
              <a:gd name="adj" fmla="val 49091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31089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0" y="3108960"/>
            <a:ext cx="1874520" cy="502920"/>
          </a:xfrm>
          <a:prstGeom prst="roundRect">
            <a:avLst>
              <a:gd name="adj" fmla="val 49091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31089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prediction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80960" y="3108960"/>
            <a:ext cx="2148840" cy="502920"/>
          </a:xfrm>
          <a:prstGeom prst="roundRect">
            <a:avLst>
              <a:gd name="adj" fmla="val 49091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31089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optimization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154680" cy="502920"/>
          </a:xfrm>
          <a:prstGeom prst="roundRect">
            <a:avLst>
              <a:gd name="adj" fmla="val 49091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03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energy controller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04241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0749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39496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exactly is new in my invention compared with existing patents?”  —  not “Nobody has made exactly my project.”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PATENT VS. RESEARCH PAPER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Outputs, Two Different Purposes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743200" cy="502920"/>
          </a:xfrm>
          <a:prstGeom prst="roundRect">
            <a:avLst/>
          </a:prstGeom>
          <a:solidFill>
            <a:srgbClr val="F1F3F6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0" y="1554480"/>
            <a:ext cx="3840480" cy="50292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0" y="1554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0" y="1554480"/>
            <a:ext cx="3840480" cy="502920"/>
          </a:xfrm>
          <a:prstGeom prst="roundRect">
            <a:avLst/>
          </a:prstGeom>
          <a:solidFill>
            <a:srgbClr val="6E1F1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1554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2743200" cy="621792"/>
          </a:xfrm>
          <a:prstGeom prst="rect">
            <a:avLst/>
          </a:prstGeom>
          <a:solidFill>
            <a:srgbClr val="F1F3F6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2057400"/>
            <a:ext cx="3840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05740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Communicates research findings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0" y="2057400"/>
            <a:ext cx="3840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05740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an invention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79192"/>
            <a:ext cx="2743200" cy="621792"/>
          </a:xfrm>
          <a:prstGeom prst="rect">
            <a:avLst/>
          </a:prstGeom>
          <a:solidFill>
            <a:srgbClr val="F1F3F6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67919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0" y="2679192"/>
            <a:ext cx="3840480" cy="621792"/>
          </a:xfrm>
          <a:prstGeom prst="rect">
            <a:avLst/>
          </a:prstGeom>
          <a:solidFill>
            <a:srgbClr val="F5F8FD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679192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/ contribution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32320" y="2679192"/>
            <a:ext cx="3840480" cy="621792"/>
          </a:xfrm>
          <a:prstGeom prst="rect">
            <a:avLst/>
          </a:prstGeom>
          <a:solidFill>
            <a:srgbClr val="F5F8FD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2679192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 and claims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300984"/>
            <a:ext cx="2743200" cy="621792"/>
          </a:xfrm>
          <a:prstGeom prst="rect">
            <a:avLst/>
          </a:prstGeom>
          <a:solidFill>
            <a:srgbClr val="F1F3F6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300984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91840" y="3300984"/>
            <a:ext cx="3840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300984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results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32320" y="3300984"/>
            <a:ext cx="3840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3300984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protected scope through claims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922776"/>
            <a:ext cx="2743200" cy="621792"/>
          </a:xfrm>
          <a:prstGeom prst="rect">
            <a:avLst/>
          </a:prstGeom>
          <a:solidFill>
            <a:srgbClr val="F1F3F6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92277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91840" y="3922776"/>
            <a:ext cx="3840480" cy="621792"/>
          </a:xfrm>
          <a:prstGeom prst="rect">
            <a:avLst/>
          </a:prstGeom>
          <a:solidFill>
            <a:srgbClr val="F5F8FD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922776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is generally encouraged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132320" y="3922776"/>
            <a:ext cx="3840480" cy="621792"/>
          </a:xfrm>
          <a:prstGeom prst="rect">
            <a:avLst/>
          </a:prstGeom>
          <a:solidFill>
            <a:srgbClr val="F5F8FD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3922776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disclosure can affect patentability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544568"/>
            <a:ext cx="2743200" cy="621792"/>
          </a:xfrm>
          <a:prstGeom prst="rect">
            <a:avLst/>
          </a:prstGeom>
          <a:solidFill>
            <a:srgbClr val="F1F3F6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544568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most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91840" y="4544568"/>
            <a:ext cx="3840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454456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discussion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132320" y="4544568"/>
            <a:ext cx="3840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0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454456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and technical features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48640" y="5394960"/>
            <a:ext cx="10424160" cy="777240"/>
          </a:xfrm>
          <a:prstGeom prst="roundRect">
            <a:avLst>
              <a:gd name="adj" fmla="val 11765"/>
            </a:avLst>
          </a:prstGeom>
          <a:solidFill>
            <a:srgbClr val="FFF4E5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539496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</a:t>
            </a:r>
            <a:r>
              <a:rPr lang="en-US" sz="1250" i="1" dirty="0">
                <a:solidFill>
                  <a:srgbClr val="6B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publishing an innovative invention, discuss its patent potential with the concerned faculty / institutional IP authority.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RESEARCH TOPIC 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Slide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</a:t>
            </a: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minutes per student/group   ·   </a:t>
            </a: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</a:t>
            </a: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minutes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56816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2082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33472" y="1965960"/>
            <a:ext cx="1956816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724912" y="202082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24912" y="23774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18304" y="1965960"/>
            <a:ext cx="1956816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202082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9744" y="23774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03136" y="1965960"/>
            <a:ext cx="1956816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894576" y="202082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94576" y="23774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87968" y="1965960"/>
            <a:ext cx="1956816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979408" y="202082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79408" y="23774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29584"/>
            <a:ext cx="1956816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844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3941064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&amp; Objectives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33472" y="3529584"/>
            <a:ext cx="1956816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2724912" y="35844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724912" y="3941064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18304" y="3529584"/>
            <a:ext cx="1956816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809744" y="35844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09744" y="3941064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03136" y="3529584"/>
            <a:ext cx="1956816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894576" y="35844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94576" y="3941064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/ IP Potential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887968" y="3529584"/>
            <a:ext cx="1956816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979408" y="35844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979408" y="3941064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51389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important papers with comparative observations for the Literature Survey slide; one research question with 3–4 measurable objectives.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· PRESENTATION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Presenting &amp; Defending the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36192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problem, not the technology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97880" y="1691640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536192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reading directly from slides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03120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diagrams rather than paragraphs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97880" y="2258568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03120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technical terms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25496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67004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slides uncluttered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97880" y="2825496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67004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papers/patents on relevant slides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236976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distinguish existing work from proposed work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897880" y="339242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3236976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prepared to justify the research gap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032504"/>
            <a:ext cx="1042416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69664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QUESTION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41655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is new in your proposed research?”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48640" y="517550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TO EXPECT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49554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did you select this problem?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54680" y="549554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have others already done?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549554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the research gap?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66760" y="549554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your research question?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8795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your proposed contribution?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54680" y="58795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will you validate it?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58795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dataset/hardware will you use?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66760" y="58795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are the limitations? Is there patent potential?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SUGGESTED EVALUATION SCHEME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Marks, Four Components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credits total — 2 credits via the prescribed MOOC, 2 credits evaluated using the listed rubrics. Subject to departmental approval.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423160" cy="3200400"/>
          </a:xfrm>
          <a:prstGeom prst="roundRect">
            <a:avLst>
              <a:gd name="adj" fmla="val 3019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289227"/>
            <a:ext cx="1783080" cy="1419933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2948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47548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 smtClean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Examination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2011680"/>
            <a:ext cx="2423160" cy="3200400"/>
          </a:xfrm>
          <a:prstGeom prst="roundRect">
            <a:avLst>
              <a:gd name="adj" fmla="val 3019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3141617"/>
            <a:ext cx="1783080" cy="1567543"/>
          </a:xfrm>
          <a:prstGeom prst="roundRect">
            <a:avLst>
              <a:gd name="adj" fmla="val 291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757569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47548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</a:t>
            </a:r>
            <a:r>
              <a:rPr lang="en-US" sz="1050" b="1" dirty="0" smtClean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proposal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 smtClean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</a:t>
            </a:r>
            <a:r>
              <a:rPr lang="en-US" sz="1050" b="1" smtClean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Plagiarism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2011680"/>
            <a:ext cx="2423160" cy="3200400"/>
          </a:xfrm>
          <a:prstGeom prst="roundRect">
            <a:avLst>
              <a:gd name="adj" fmla="val 3019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2914322"/>
            <a:ext cx="1783080" cy="1794837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2383971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+ 05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897880" y="47548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</a:t>
            </a:r>
            <a:r>
              <a:rPr lang="en-US" sz="1050" b="1" dirty="0" smtClean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/ Plagiarism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66760" y="2011680"/>
            <a:ext cx="2423160" cy="3200400"/>
          </a:xfrm>
          <a:prstGeom prst="roundRect">
            <a:avLst>
              <a:gd name="adj" fmla="val 3019"/>
            </a:avLst>
          </a:prstGeom>
          <a:solidFill>
            <a:srgbClr val="F5F8FD"/>
          </a:solidFill>
          <a:ln w="12700">
            <a:solidFill>
              <a:srgbClr val="D8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3054097"/>
            <a:ext cx="1783080" cy="1655064"/>
          </a:xfrm>
          <a:prstGeom prst="roundRect">
            <a:avLst>
              <a:gd name="adj" fmla="val 7292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2775857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0424160" cy="6583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53212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= 100 MARKS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· FINAL COURSE 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Mini Research Proposal / Concept Note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progressively across all 12 weeks — the single tangible outcome of the course.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93976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93976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965960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Title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18688" y="2093976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3218688" y="2093976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1965960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88736" y="2093976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888736" y="2093976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36208" y="1965960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58784" y="2093976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8558784" y="2093976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06256" y="1965960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715768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15768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2587752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18688" y="2715768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3218688" y="2715768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66160" y="2587752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88736" y="2715768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5888736" y="2715768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36208" y="2587752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58784" y="2715768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8558784" y="2715768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906256" y="2587752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Experimental/Simulation Plan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33756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33756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96112" y="3209544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Approach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18688" y="333756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31"/>
          <p:cNvSpPr/>
          <p:nvPr/>
        </p:nvSpPr>
        <p:spPr>
          <a:xfrm>
            <a:off x="3218688" y="333756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566160" y="3209544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88736" y="333756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5888736" y="333756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36208" y="3209544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Novelty/Innovation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58784" y="3337560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9" name="Text 37"/>
          <p:cNvSpPr/>
          <p:nvPr/>
        </p:nvSpPr>
        <p:spPr>
          <a:xfrm>
            <a:off x="8558784" y="3337560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906256" y="3209544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Used &amp; Verification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395935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959352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96112" y="3831336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18688" y="395935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5" name="Text 43"/>
          <p:cNvSpPr/>
          <p:nvPr/>
        </p:nvSpPr>
        <p:spPr>
          <a:xfrm>
            <a:off x="3218688" y="3959352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566160" y="3831336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IP/Patent Potential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88736" y="395935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8" name="Text 46"/>
          <p:cNvSpPr/>
          <p:nvPr/>
        </p:nvSpPr>
        <p:spPr>
          <a:xfrm>
            <a:off x="5888736" y="3959352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36208" y="3831336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Collaborators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58784" y="395935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1" name="Text 49"/>
          <p:cNvSpPr/>
          <p:nvPr/>
        </p:nvSpPr>
        <p:spPr>
          <a:xfrm>
            <a:off x="8558784" y="3959352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906256" y="3831336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4581144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4581144"/>
            <a:ext cx="27432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96112" y="4453128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023360" cy="402336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846320"/>
            <a:ext cx="3657600" cy="36576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ONE-SLIDE MESSAGE TO STUDENTS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Methodology is not about memorising research terminology.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889462" cy="1234440"/>
          </a:xfrm>
          <a:prstGeom prst="roundRect">
            <a:avLst>
              <a:gd name="adj" fmla="val 6168"/>
            </a:avLst>
          </a:prstGeom>
          <a:solidFill>
            <a:srgbClr val="2630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331720"/>
            <a:ext cx="8345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85574" y="2331720"/>
            <a:ext cx="889462" cy="1234440"/>
          </a:xfrm>
          <a:prstGeom prst="roundRect">
            <a:avLst>
              <a:gd name="adj" fmla="val 6168"/>
            </a:avLst>
          </a:prstGeom>
          <a:solidFill>
            <a:srgbClr val="2630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3006" y="2331720"/>
            <a:ext cx="8345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8188" y="2331720"/>
            <a:ext cx="889462" cy="1234440"/>
          </a:xfrm>
          <a:prstGeom prst="roundRect">
            <a:avLst>
              <a:gd name="adj" fmla="val 6168"/>
            </a:avLst>
          </a:prstGeom>
          <a:solidFill>
            <a:srgbClr val="2630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5620" y="2331720"/>
            <a:ext cx="8345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10801" y="2331720"/>
            <a:ext cx="889462" cy="1234440"/>
          </a:xfrm>
          <a:prstGeom prst="roundRect">
            <a:avLst>
              <a:gd name="adj" fmla="val 6168"/>
            </a:avLst>
          </a:prstGeom>
          <a:solidFill>
            <a:srgbClr val="2630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8233" y="2331720"/>
            <a:ext cx="8345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73415" y="2331720"/>
            <a:ext cx="889462" cy="1234440"/>
          </a:xfrm>
          <a:prstGeom prst="roundRect">
            <a:avLst>
              <a:gd name="adj" fmla="val 6168"/>
            </a:avLst>
          </a:prstGeom>
          <a:solidFill>
            <a:srgbClr val="2630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847" y="2331720"/>
            <a:ext cx="8345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36029" y="2331720"/>
            <a:ext cx="889462" cy="1234440"/>
          </a:xfrm>
          <a:prstGeom prst="roundRect">
            <a:avLst>
              <a:gd name="adj" fmla="val 6168"/>
            </a:avLst>
          </a:prstGeom>
          <a:solidFill>
            <a:srgbClr val="2630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3461" y="2331720"/>
            <a:ext cx="8345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98643" y="2331720"/>
            <a:ext cx="889462" cy="1234440"/>
          </a:xfrm>
          <a:prstGeom prst="roundRect">
            <a:avLst>
              <a:gd name="adj" fmla="val 6168"/>
            </a:avLst>
          </a:prstGeom>
          <a:solidFill>
            <a:srgbClr val="2630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6075" y="2331720"/>
            <a:ext cx="8345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&amp;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61257" y="2331720"/>
            <a:ext cx="889462" cy="1234440"/>
          </a:xfrm>
          <a:prstGeom prst="roundRect">
            <a:avLst>
              <a:gd name="adj" fmla="val 6168"/>
            </a:avLst>
          </a:prstGeom>
          <a:solidFill>
            <a:srgbClr val="2630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8689" y="2331720"/>
            <a:ext cx="8345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3871" y="2331720"/>
            <a:ext cx="889462" cy="1234440"/>
          </a:xfrm>
          <a:prstGeom prst="roundRect">
            <a:avLst>
              <a:gd name="adj" fmla="val 6168"/>
            </a:avLst>
          </a:prstGeom>
          <a:solidFill>
            <a:srgbClr val="2630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51303" y="2331720"/>
            <a:ext cx="8345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IP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486484" y="2331720"/>
            <a:ext cx="889462" cy="1234440"/>
          </a:xfrm>
          <a:prstGeom prst="roundRect">
            <a:avLst>
              <a:gd name="adj" fmla="val 6168"/>
            </a:avLst>
          </a:prstGeom>
          <a:solidFill>
            <a:srgbClr val="2630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13916" y="2331720"/>
            <a:ext cx="8345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449098" y="2331720"/>
            <a:ext cx="889462" cy="1234440"/>
          </a:xfrm>
          <a:prstGeom prst="roundRect">
            <a:avLst>
              <a:gd name="adj" fmla="val 6168"/>
            </a:avLst>
          </a:prstGeom>
          <a:solidFill>
            <a:srgbClr val="263080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76530" y="2331720"/>
            <a:ext cx="83459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&amp;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" y="4114800"/>
            <a:ext cx="10515600" cy="1691640"/>
          </a:xfrm>
          <a:prstGeom prst="roundRect">
            <a:avLst>
              <a:gd name="adj" fmla="val 5405"/>
            </a:avLst>
          </a:prstGeom>
          <a:solidFill>
            <a:srgbClr val="141C4E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4114800"/>
            <a:ext cx="9966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the course, every student/group should have a well-defined research problem and a technically defensible research proposal — rather than merely a project topic.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 — General Orientation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1773</Words>
  <Application>Microsoft Office PowerPoint</Application>
  <PresentationFormat>Widescreen</PresentationFormat>
  <Paragraphs>443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4</cp:revision>
  <dcterms:created xsi:type="dcterms:W3CDTF">2026-08-27T08:45:28Z</dcterms:created>
  <dcterms:modified xsi:type="dcterms:W3CDTF">2026-08-31T06:15:21Z</dcterms:modified>
</cp:coreProperties>
</file>